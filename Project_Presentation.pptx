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4.xml" ContentType="application/vnd.openxmlformats-officedocument.drawingml.chart+xml"/>
  <Override PartName="/ppt/notesSlides/notesSlide13.xml" ContentType="application/vnd.openxmlformats-officedocument.presentationml.notesSlide+xml"/>
  <Override PartName="/ppt/charts/chart5.xml" ContentType="application/vnd.openxmlformats-officedocument.drawingml.chart+xml"/>
  <Override PartName="/ppt/notesSlides/notesSlide14.xml" ContentType="application/vnd.openxmlformats-officedocument.presentationml.notesSlide+xml"/>
  <Override PartName="/ppt/charts/chart6.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75" d="100"/>
          <a:sy n="75" d="100"/>
        </p:scale>
        <p:origin x="874"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E2761"/>
                </a:solidFill>
                <a:latin typeface="Arial"/>
              </a:defRPr>
            </a:pPr>
            <a:r>
              <a:rPr lang="en-IN" sz="1300" b="0" i="0" u="none" strike="noStrike">
                <a:solidFill>
                  <a:srgbClr val="1E2761"/>
                </a:solidFill>
                <a:latin typeface="Arial"/>
              </a:rPr>
              <a:t>Year-wise Returns by Company</a:t>
            </a:r>
          </a:p>
        </c:rich>
      </c:tx>
      <c:overlay val="0"/>
    </c:title>
    <c:autoTitleDeleted val="0"/>
    <c:plotArea>
      <c:layout/>
      <c:barChart>
        <c:barDir val="col"/>
        <c:grouping val="clustered"/>
        <c:varyColors val="0"/>
        <c:ser>
          <c:idx val="0"/>
          <c:order val="0"/>
          <c:tx>
            <c:strRef>
              <c:f>Sheet1!$B$1</c:f>
              <c:strCache>
                <c:ptCount val="1"/>
                <c:pt idx="0">
                  <c:v>TCS (%)</c:v>
                </c:pt>
              </c:strCache>
            </c:strRef>
          </c:tx>
          <c:spPr>
            <a:solidFill>
              <a:srgbClr val="1E2761"/>
            </a:solidFill>
            <a:effectLst/>
          </c:spPr>
          <c:invertIfNegative val="0"/>
          <c:cat>
            <c:strRef>
              <c:f>Sheet1!$A$2:$A$6</c:f>
              <c:strCache>
                <c:ptCount val="5"/>
                <c:pt idx="0">
                  <c:v>21-22</c:v>
                </c:pt>
                <c:pt idx="1">
                  <c:v>22-23</c:v>
                </c:pt>
                <c:pt idx="2">
                  <c:v>23-24</c:v>
                </c:pt>
                <c:pt idx="3">
                  <c:v>24-25</c:v>
                </c:pt>
                <c:pt idx="4">
                  <c:v>25-26</c:v>
                </c:pt>
              </c:strCache>
            </c:strRef>
          </c:cat>
          <c:val>
            <c:numRef>
              <c:f>Sheet1!$B$2:$B$6</c:f>
              <c:numCache>
                <c:formatCode>General</c:formatCode>
                <c:ptCount val="5"/>
                <c:pt idx="0">
                  <c:v>24.53</c:v>
                </c:pt>
                <c:pt idx="1">
                  <c:v>-6.44</c:v>
                </c:pt>
                <c:pt idx="2">
                  <c:v>22.79</c:v>
                </c:pt>
                <c:pt idx="3">
                  <c:v>-2.72</c:v>
                </c:pt>
                <c:pt idx="4">
                  <c:v>-29.34</c:v>
                </c:pt>
              </c:numCache>
            </c:numRef>
          </c:val>
          <c:extLst>
            <c:ext xmlns:c16="http://schemas.microsoft.com/office/drawing/2014/chart" uri="{C3380CC4-5D6E-409C-BE32-E72D297353CC}">
              <c16:uniqueId val="{00000000-670D-4585-B6D2-0B48AEE51E7A}"/>
            </c:ext>
          </c:extLst>
        </c:ser>
        <c:ser>
          <c:idx val="1"/>
          <c:order val="1"/>
          <c:tx>
            <c:strRef>
              <c:f>Sheet1!$C$1</c:f>
              <c:strCache>
                <c:ptCount val="1"/>
                <c:pt idx="0">
                  <c:v>ICICI Bank (%)</c:v>
                </c:pt>
              </c:strCache>
            </c:strRef>
          </c:tx>
          <c:spPr>
            <a:solidFill>
              <a:srgbClr val="D9A441"/>
            </a:solidFill>
            <a:effectLst/>
          </c:spPr>
          <c:invertIfNegative val="0"/>
          <c:cat>
            <c:strRef>
              <c:f>Sheet1!$A$2:$A$6</c:f>
              <c:strCache>
                <c:ptCount val="5"/>
                <c:pt idx="0">
                  <c:v>21-22</c:v>
                </c:pt>
                <c:pt idx="1">
                  <c:v>22-23</c:v>
                </c:pt>
                <c:pt idx="2">
                  <c:v>23-24</c:v>
                </c:pt>
                <c:pt idx="3">
                  <c:v>24-25</c:v>
                </c:pt>
                <c:pt idx="4">
                  <c:v>25-26</c:v>
                </c:pt>
              </c:strCache>
            </c:strRef>
          </c:cat>
          <c:val>
            <c:numRef>
              <c:f>Sheet1!$C$2:$C$6</c:f>
              <c:numCache>
                <c:formatCode>General</c:formatCode>
                <c:ptCount val="5"/>
                <c:pt idx="0">
                  <c:v>21.97</c:v>
                </c:pt>
                <c:pt idx="1">
                  <c:v>18.73</c:v>
                </c:pt>
                <c:pt idx="2">
                  <c:v>20.12</c:v>
                </c:pt>
                <c:pt idx="3">
                  <c:v>18.22</c:v>
                </c:pt>
                <c:pt idx="4">
                  <c:v>-14.84</c:v>
                </c:pt>
              </c:numCache>
            </c:numRef>
          </c:val>
          <c:extLst>
            <c:ext xmlns:c16="http://schemas.microsoft.com/office/drawing/2014/chart" uri="{C3380CC4-5D6E-409C-BE32-E72D297353CC}">
              <c16:uniqueId val="{00000001-670D-4585-B6D2-0B48AEE51E7A}"/>
            </c:ext>
          </c:extLst>
        </c:ser>
        <c:ser>
          <c:idx val="2"/>
          <c:order val="2"/>
          <c:tx>
            <c:strRef>
              <c:f>Sheet1!$D$1</c:f>
              <c:strCache>
                <c:ptCount val="1"/>
                <c:pt idx="0">
                  <c:v>Reliance (%)</c:v>
                </c:pt>
              </c:strCache>
            </c:strRef>
          </c:tx>
          <c:spPr>
            <a:solidFill>
              <a:srgbClr val="2E7D5B"/>
            </a:solidFill>
            <a:effectLst/>
          </c:spPr>
          <c:invertIfNegative val="0"/>
          <c:cat>
            <c:strRef>
              <c:f>Sheet1!$A$2:$A$6</c:f>
              <c:strCache>
                <c:ptCount val="5"/>
                <c:pt idx="0">
                  <c:v>21-22</c:v>
                </c:pt>
                <c:pt idx="1">
                  <c:v>22-23</c:v>
                </c:pt>
                <c:pt idx="2">
                  <c:v>23-24</c:v>
                </c:pt>
                <c:pt idx="3">
                  <c:v>24-25</c:v>
                </c:pt>
                <c:pt idx="4">
                  <c:v>25-26</c:v>
                </c:pt>
              </c:strCache>
            </c:strRef>
          </c:cat>
          <c:val>
            <c:numRef>
              <c:f>Sheet1!$D$2:$D$6</c:f>
              <c:numCache>
                <c:formatCode>General</c:formatCode>
                <c:ptCount val="5"/>
                <c:pt idx="0">
                  <c:v>32.56</c:v>
                </c:pt>
                <c:pt idx="1">
                  <c:v>-16.18</c:v>
                </c:pt>
                <c:pt idx="2">
                  <c:v>33.479999999999997</c:v>
                </c:pt>
                <c:pt idx="3">
                  <c:v>-12.79</c:v>
                </c:pt>
                <c:pt idx="4">
                  <c:v>-3.97</c:v>
                </c:pt>
              </c:numCache>
            </c:numRef>
          </c:val>
          <c:extLst>
            <c:ext xmlns:c16="http://schemas.microsoft.com/office/drawing/2014/chart" uri="{C3380CC4-5D6E-409C-BE32-E72D297353CC}">
              <c16:uniqueId val="{00000002-670D-4585-B6D2-0B48AEE51E7A}"/>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5E7EB"/>
              </a:solidFill>
              <a:prstDash val="solid"/>
              <a:round/>
            </a:ln>
          </c:spPr>
        </c:majorGridlines>
        <c:title>
          <c:tx>
            <c:rich>
              <a:bodyPr/>
              <a:lstStyle/>
              <a:p>
                <a:pPr>
                  <a:defRPr sz="1000" b="0" i="0" u="none" strike="noStrike">
                    <a:solidFill>
                      <a:srgbClr val="000000"/>
                    </a:solidFill>
                    <a:latin typeface="Arial"/>
                  </a:defRPr>
                </a:pPr>
                <a:r>
                  <a:rPr lang="en-IN" sz="1000" b="0" i="0" u="none" strike="noStrike">
                    <a:solidFill>
                      <a:srgbClr val="000000"/>
                    </a:solidFill>
                    <a:latin typeface="Arial"/>
                  </a:rPr>
                  <a:t>Return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E2761"/>
                </a:solidFill>
                <a:latin typeface="Arial"/>
              </a:defRPr>
            </a:pPr>
            <a:r>
              <a:rPr lang="en-IN" sz="1300" b="0" i="0" u="none" strike="noStrike">
                <a:solidFill>
                  <a:srgbClr val="1E2761"/>
                </a:solidFill>
                <a:latin typeface="Arial"/>
              </a:rPr>
              <a:t>Standard Deviation by Company</a:t>
            </a:r>
          </a:p>
        </c:rich>
      </c:tx>
      <c:overlay val="0"/>
    </c:title>
    <c:autoTitleDeleted val="0"/>
    <c:plotArea>
      <c:layout/>
      <c:barChart>
        <c:barDir val="col"/>
        <c:grouping val="clustered"/>
        <c:varyColors val="0"/>
        <c:ser>
          <c:idx val="0"/>
          <c:order val="0"/>
          <c:tx>
            <c:strRef>
              <c:f>Sheet1!$B$1</c:f>
              <c:strCache>
                <c:ptCount val="1"/>
                <c:pt idx="0">
                  <c:v>Std. Deviation (%)</c:v>
                </c:pt>
              </c:strCache>
            </c:strRef>
          </c:tx>
          <c:spPr>
            <a:solidFill>
              <a:srgbClr val="B23A48"/>
            </a:solidFill>
            <a:effectLst/>
          </c:spPr>
          <c:invertIfNegative val="0"/>
          <c:dLbls>
            <c:numFmt formatCode="#,##0" sourceLinked="0"/>
            <c:spPr>
              <a:noFill/>
              <a:ln>
                <a:noFill/>
              </a:ln>
              <a:effectLst/>
            </c:spPr>
            <c:txPr>
              <a:bodyPr/>
              <a:lstStyle/>
              <a:p>
                <a:pPr>
                  <a:defRPr sz="1100" b="0" i="0" u="none" strike="noStrike">
                    <a:solidFill>
                      <a:srgbClr val="1B1B2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TCS</c:v>
                </c:pt>
                <c:pt idx="1">
                  <c:v>ICICI Bank</c:v>
                </c:pt>
                <c:pt idx="2">
                  <c:v>Reliance Industries</c:v>
                </c:pt>
              </c:strCache>
            </c:strRef>
          </c:cat>
          <c:val>
            <c:numRef>
              <c:f>Sheet1!$B$2:$B$4</c:f>
              <c:numCache>
                <c:formatCode>General</c:formatCode>
                <c:ptCount val="3"/>
                <c:pt idx="0">
                  <c:v>20.07</c:v>
                </c:pt>
                <c:pt idx="1">
                  <c:v>13.9</c:v>
                </c:pt>
                <c:pt idx="2">
                  <c:v>21.92</c:v>
                </c:pt>
              </c:numCache>
            </c:numRef>
          </c:val>
          <c:extLst>
            <c:ext xmlns:c16="http://schemas.microsoft.com/office/drawing/2014/chart" uri="{C3380CC4-5D6E-409C-BE32-E72D297353CC}">
              <c16:uniqueId val="{00000000-6001-469A-B02B-821E01F422B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E2761"/>
                </a:solidFill>
                <a:latin typeface="Arial"/>
              </a:defRPr>
            </a:pPr>
            <a:r>
              <a:rPr lang="en-IN" sz="1400" b="0" i="0" u="none" strike="noStrike">
                <a:solidFill>
                  <a:srgbClr val="1E2761"/>
                </a:solidFill>
                <a:latin typeface="Arial"/>
              </a:rPr>
              <a:t>Average Return vs. Standard Deviation</a:t>
            </a:r>
          </a:p>
        </c:rich>
      </c:tx>
      <c:overlay val="0"/>
    </c:title>
    <c:autoTitleDeleted val="0"/>
    <c:plotArea>
      <c:layout/>
      <c:barChart>
        <c:barDir val="col"/>
        <c:grouping val="clustered"/>
        <c:varyColors val="0"/>
        <c:ser>
          <c:idx val="0"/>
          <c:order val="0"/>
          <c:tx>
            <c:strRef>
              <c:f>Sheet1!$B$1</c:f>
              <c:strCache>
                <c:ptCount val="1"/>
                <c:pt idx="0">
                  <c:v>Average Return (%)</c:v>
                </c:pt>
              </c:strCache>
            </c:strRef>
          </c:tx>
          <c:spPr>
            <a:solidFill>
              <a:srgbClr val="2E7D5B"/>
            </a:solidFill>
            <a:effectLst/>
          </c:spPr>
          <c:invertIfNegative val="0"/>
          <c:dLbls>
            <c:numFmt formatCode="#,##0" sourceLinked="0"/>
            <c:spPr>
              <a:noFill/>
              <a:ln>
                <a:noFill/>
              </a:ln>
              <a:effectLst/>
            </c:spPr>
            <c:txPr>
              <a:bodyPr/>
              <a:lstStyle/>
              <a:p>
                <a:pPr>
                  <a:defRPr sz="1000" b="0" i="0" u="none" strike="noStrike">
                    <a:solidFill>
                      <a:srgbClr val="1B1B2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TCS</c:v>
                </c:pt>
                <c:pt idx="1">
                  <c:v>ICICI Bank</c:v>
                </c:pt>
                <c:pt idx="2">
                  <c:v>Reliance Industries</c:v>
                </c:pt>
              </c:strCache>
            </c:strRef>
          </c:cat>
          <c:val>
            <c:numRef>
              <c:f>Sheet1!$B$2:$B$4</c:f>
              <c:numCache>
                <c:formatCode>General</c:formatCode>
                <c:ptCount val="3"/>
                <c:pt idx="0">
                  <c:v>1.76</c:v>
                </c:pt>
                <c:pt idx="1">
                  <c:v>12.84</c:v>
                </c:pt>
                <c:pt idx="2">
                  <c:v>6.62</c:v>
                </c:pt>
              </c:numCache>
            </c:numRef>
          </c:val>
          <c:extLst>
            <c:ext xmlns:c16="http://schemas.microsoft.com/office/drawing/2014/chart" uri="{C3380CC4-5D6E-409C-BE32-E72D297353CC}">
              <c16:uniqueId val="{00000000-810D-4078-826D-B6438893FC44}"/>
            </c:ext>
          </c:extLst>
        </c:ser>
        <c:ser>
          <c:idx val="1"/>
          <c:order val="1"/>
          <c:tx>
            <c:strRef>
              <c:f>Sheet1!$C$1</c:f>
              <c:strCache>
                <c:ptCount val="1"/>
                <c:pt idx="0">
                  <c:v>Standard Deviation (%)</c:v>
                </c:pt>
              </c:strCache>
            </c:strRef>
          </c:tx>
          <c:spPr>
            <a:solidFill>
              <a:srgbClr val="B23A48"/>
            </a:solidFill>
            <a:effectLst/>
          </c:spPr>
          <c:invertIfNegative val="0"/>
          <c:dLbls>
            <c:numFmt formatCode="#,##0" sourceLinked="0"/>
            <c:spPr>
              <a:noFill/>
              <a:ln>
                <a:noFill/>
              </a:ln>
              <a:effectLst/>
            </c:spPr>
            <c:txPr>
              <a:bodyPr/>
              <a:lstStyle/>
              <a:p>
                <a:pPr>
                  <a:defRPr sz="1000" b="0" i="0" u="none" strike="noStrike">
                    <a:solidFill>
                      <a:srgbClr val="1B1B2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TCS</c:v>
                </c:pt>
                <c:pt idx="1">
                  <c:v>ICICI Bank</c:v>
                </c:pt>
                <c:pt idx="2">
                  <c:v>Reliance Industries</c:v>
                </c:pt>
              </c:strCache>
            </c:strRef>
          </c:cat>
          <c:val>
            <c:numRef>
              <c:f>Sheet1!$C$2:$C$4</c:f>
              <c:numCache>
                <c:formatCode>General</c:formatCode>
                <c:ptCount val="3"/>
                <c:pt idx="0">
                  <c:v>20.07</c:v>
                </c:pt>
                <c:pt idx="1">
                  <c:v>13.9</c:v>
                </c:pt>
                <c:pt idx="2">
                  <c:v>21.92</c:v>
                </c:pt>
              </c:numCache>
            </c:numRef>
          </c:val>
          <c:extLst>
            <c:ext xmlns:c16="http://schemas.microsoft.com/office/drawing/2014/chart" uri="{C3380CC4-5D6E-409C-BE32-E72D297353CC}">
              <c16:uniqueId val="{00000001-810D-4078-826D-B6438893FC4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1E2761"/>
                </a:solidFill>
                <a:latin typeface="Arial"/>
              </a:defRPr>
            </a:pPr>
            <a:r>
              <a:rPr sz="1250" b="0" i="0" u="none" strike="noStrike">
                <a:solidFill>
                  <a:srgbClr val="1E2761"/>
                </a:solidFill>
                <a:latin typeface="Arial"/>
              </a:rPr>
              <a:t>Pearson Correlation Between Stock Pairs</a:t>
            </a:r>
          </a:p>
        </c:rich>
      </c:tx>
      <c:overlay val="0"/>
    </c:title>
    <c:autoTitleDeleted val="0"/>
    <c:plotArea>
      <c:layout/>
      <c:barChart>
        <c:barDir val="col"/>
        <c:grouping val="clustered"/>
        <c:varyColors val="0"/>
        <c:ser>
          <c:idx val="0"/>
          <c:order val="0"/>
          <c:tx>
            <c:strRef>
              <c:f>Sheet1!$B$1</c:f>
              <c:strCache>
                <c:ptCount val="1"/>
                <c:pt idx="0">
                  <c:v>Correlation (r)</c:v>
                </c:pt>
              </c:strCache>
            </c:strRef>
          </c:tx>
          <c:spPr>
            <a:solidFill>
              <a:srgbClr val="1E2761"/>
            </a:solidFill>
            <a:effectLst/>
          </c:spPr>
          <c:invertIfNegative val="0"/>
          <c:dLbls>
            <c:numFmt formatCode="#,##0" sourceLinked="0"/>
            <c:spPr>
              <a:noFill/>
              <a:ln>
                <a:noFill/>
              </a:ln>
              <a:effectLst/>
            </c:spPr>
            <c:txPr>
              <a:bodyPr/>
              <a:lstStyle/>
              <a:p>
                <a:pPr>
                  <a:defRPr sz="1200" b="0" i="0" u="none" strike="noStrike">
                    <a:solidFill>
                      <a:srgbClr val="1B1B2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TCS &amp; ICICI</c:v>
                </c:pt>
                <c:pt idx="1">
                  <c:v>ICICI &amp; Reliance</c:v>
                </c:pt>
                <c:pt idx="2">
                  <c:v>TCS &amp; Reliance</c:v>
                </c:pt>
              </c:strCache>
            </c:strRef>
          </c:cat>
          <c:val>
            <c:numRef>
              <c:f>Sheet1!$B$2:$B$4</c:f>
              <c:numCache>
                <c:formatCode>General</c:formatCode>
                <c:ptCount val="3"/>
                <c:pt idx="0">
                  <c:v>0.82</c:v>
                </c:pt>
                <c:pt idx="1">
                  <c:v>0.31</c:v>
                </c:pt>
                <c:pt idx="2">
                  <c:v>0.8</c:v>
                </c:pt>
              </c:numCache>
            </c:numRef>
          </c:val>
          <c:extLst>
            <c:ext xmlns:c16="http://schemas.microsoft.com/office/drawing/2014/chart" uri="{C3380CC4-5D6E-409C-BE32-E72D297353CC}">
              <c16:uniqueId val="{00000000-264C-4EF0-9D2F-59FF9F3581F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1270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E2761"/>
                </a:solidFill>
                <a:latin typeface="Arial"/>
              </a:defRPr>
            </a:pPr>
            <a:r>
              <a:rPr sz="1300" b="0" i="0" u="none" strike="noStrike">
                <a:solidFill>
                  <a:srgbClr val="1E2761"/>
                </a:solidFill>
                <a:latin typeface="Arial"/>
              </a:rPr>
              <a:t>Beta Coefficient by Company</a:t>
            </a:r>
          </a:p>
        </c:rich>
      </c:tx>
      <c:overlay val="0"/>
    </c:title>
    <c:autoTitleDeleted val="0"/>
    <c:plotArea>
      <c:layout/>
      <c:barChart>
        <c:barDir val="col"/>
        <c:grouping val="clustered"/>
        <c:varyColors val="0"/>
        <c:ser>
          <c:idx val="0"/>
          <c:order val="0"/>
          <c:tx>
            <c:strRef>
              <c:f>Sheet1!$B$1</c:f>
              <c:strCache>
                <c:ptCount val="1"/>
                <c:pt idx="0">
                  <c:v>Beta (β)</c:v>
                </c:pt>
              </c:strCache>
            </c:strRef>
          </c:tx>
          <c:spPr>
            <a:solidFill>
              <a:srgbClr val="D9A441"/>
            </a:solidFill>
            <a:effectLst/>
          </c:spPr>
          <c:invertIfNegative val="0"/>
          <c:dLbls>
            <c:numFmt formatCode="#,##0" sourceLinked="0"/>
            <c:spPr>
              <a:noFill/>
              <a:ln>
                <a:noFill/>
              </a:ln>
              <a:effectLst/>
            </c:spPr>
            <c:txPr>
              <a:bodyPr/>
              <a:lstStyle/>
              <a:p>
                <a:pPr>
                  <a:defRPr sz="1200" b="0" i="0" u="none" strike="noStrike">
                    <a:solidFill>
                      <a:srgbClr val="1B1B2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TCS</c:v>
                </c:pt>
                <c:pt idx="1">
                  <c:v>ICICI Bank</c:v>
                </c:pt>
                <c:pt idx="2">
                  <c:v>Reliance Industries</c:v>
                </c:pt>
              </c:strCache>
            </c:strRef>
          </c:cat>
          <c:val>
            <c:numRef>
              <c:f>Sheet1!$B$2:$B$4</c:f>
              <c:numCache>
                <c:formatCode>General</c:formatCode>
                <c:ptCount val="3"/>
                <c:pt idx="0">
                  <c:v>1.87</c:v>
                </c:pt>
                <c:pt idx="1">
                  <c:v>1.01</c:v>
                </c:pt>
                <c:pt idx="2">
                  <c:v>1.76</c:v>
                </c:pt>
              </c:numCache>
            </c:numRef>
          </c:val>
          <c:extLst>
            <c:ext xmlns:c16="http://schemas.microsoft.com/office/drawing/2014/chart" uri="{C3380CC4-5D6E-409C-BE32-E72D297353CC}">
              <c16:uniqueId val="{00000000-576F-4E21-B063-EA554FFA60B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E2761"/>
                </a:solidFill>
                <a:latin typeface="Arial"/>
              </a:defRPr>
            </a:pPr>
            <a:r>
              <a:rPr lang="en-IN" sz="1300" b="0" i="0" u="none" strike="noStrike">
                <a:solidFill>
                  <a:srgbClr val="1E2761"/>
                </a:solidFill>
                <a:latin typeface="Arial"/>
              </a:rPr>
              <a:t>Sharpe Ratio by Company</a:t>
            </a:r>
          </a:p>
        </c:rich>
      </c:tx>
      <c:overlay val="0"/>
    </c:title>
    <c:autoTitleDeleted val="0"/>
    <c:plotArea>
      <c:layout/>
      <c:barChart>
        <c:barDir val="col"/>
        <c:grouping val="clustered"/>
        <c:varyColors val="0"/>
        <c:ser>
          <c:idx val="0"/>
          <c:order val="0"/>
          <c:tx>
            <c:strRef>
              <c:f>Sheet1!$B$1</c:f>
              <c:strCache>
                <c:ptCount val="1"/>
                <c:pt idx="0">
                  <c:v>Sharpe Ratio</c:v>
                </c:pt>
              </c:strCache>
            </c:strRef>
          </c:tx>
          <c:spPr>
            <a:solidFill>
              <a:srgbClr val="2E7D5B"/>
            </a:solidFill>
            <a:effectLst/>
          </c:spPr>
          <c:invertIfNegative val="0"/>
          <c:dLbls>
            <c:numFmt formatCode="#,##0" sourceLinked="0"/>
            <c:spPr>
              <a:noFill/>
              <a:ln>
                <a:noFill/>
              </a:ln>
              <a:effectLst/>
            </c:spPr>
            <c:txPr>
              <a:bodyPr/>
              <a:lstStyle/>
              <a:p>
                <a:pPr>
                  <a:defRPr sz="1200" b="0" i="0" u="none" strike="noStrike">
                    <a:solidFill>
                      <a:srgbClr val="1B1B2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TCS</c:v>
                </c:pt>
                <c:pt idx="1">
                  <c:v>ICICI Bank</c:v>
                </c:pt>
                <c:pt idx="2">
                  <c:v>Reliance Industries</c:v>
                </c:pt>
              </c:strCache>
            </c:strRef>
          </c:cat>
          <c:val>
            <c:numRef>
              <c:f>Sheet1!$B$2:$B$4</c:f>
              <c:numCache>
                <c:formatCode>General</c:formatCode>
                <c:ptCount val="3"/>
                <c:pt idx="0">
                  <c:v>0.42</c:v>
                </c:pt>
                <c:pt idx="1">
                  <c:v>1.18</c:v>
                </c:pt>
                <c:pt idx="2">
                  <c:v>0.61</c:v>
                </c:pt>
              </c:numCache>
            </c:numRef>
          </c:val>
          <c:extLst>
            <c:ext xmlns:c16="http://schemas.microsoft.com/office/drawing/2014/chart" uri="{C3380CC4-5D6E-409C-BE32-E72D297353CC}">
              <c16:uniqueId val="{00000000-3264-420C-95BD-002D711A2EE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645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65759" y="2166364"/>
            <a:ext cx="11471565" cy="1739347"/>
          </a:xfrm>
        </p:spPr>
        <p:txBody>
          <a:bodyPr tIns="45720" bIns="45720" anchor="ctr">
            <a:normAutofit/>
          </a:bodyPr>
          <a:lstStyle>
            <a:lvl1pPr algn="ctr">
              <a:lnSpc>
                <a:spcPct val="80000"/>
              </a:lnSpc>
              <a:defRPr sz="6000" spc="150" baseline="0"/>
            </a:lvl1pPr>
          </a:lstStyle>
          <a:p>
            <a:r>
              <a:rPr lang="en-US"/>
              <a:t>Click to edit Master title style</a:t>
            </a:r>
            <a:endParaRPr lang="en-US" dirty="0"/>
          </a:p>
        </p:txBody>
      </p:sp>
      <p:sp>
        <p:nvSpPr>
          <p:cNvPr id="3" name="Subtitle 2"/>
          <p:cNvSpPr>
            <a:spLocks noGrp="1"/>
          </p:cNvSpPr>
          <p:nvPr>
            <p:ph type="subTitle" idx="1"/>
          </p:nvPr>
        </p:nvSpPr>
        <p:spPr>
          <a:xfrm>
            <a:off x="1524000" y="3996250"/>
            <a:ext cx="9144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7/15/2026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47303413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7/15/2026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86314515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0" spc="15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96DFF08F-DC6B-4601-B491-B0F83F6DD2DA}" type="datetimeFigureOut">
              <a:rPr lang="en-US" dirty="0"/>
              <a:pPr/>
              <a:t>7/15/2026</a:t>
            </a:fld>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4226543333"/>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dirty="0"/>
              <a:t>7/15/2026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44610716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dirty="0"/>
              <a:t>7/15/2026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95634493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dirty="0"/>
              <a:t>7/15/2026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38879687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dirty="0"/>
              <a:t>7/15/2026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93404429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7/15/2026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61690551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7/15/2026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81152920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7/15/2026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70758532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422854"/>
            <a:ext cx="2743196" cy="365125"/>
          </a:xfrm>
        </p:spPr>
        <p:txBody>
          <a:bodyPr/>
          <a:lstStyle/>
          <a:p>
            <a:fld id="{96DFF08F-DC6B-4601-B491-B0F83F6DD2DA}" type="datetimeFigureOut">
              <a:rPr lang="en-US" dirty="0"/>
              <a:t>7/15/2026</a:t>
            </a:fld>
            <a:endParaRPr lang="en-US" dirty="0"/>
          </a:p>
        </p:txBody>
      </p:sp>
      <p:sp>
        <p:nvSpPr>
          <p:cNvPr id="5" name="Footer Placeholder 4"/>
          <p:cNvSpPr>
            <a:spLocks noGrp="1"/>
          </p:cNvSpPr>
          <p:nvPr>
            <p:ph type="ftr" sz="quarter" idx="11"/>
          </p:nvPr>
        </p:nvSpPr>
        <p:spPr>
          <a:xfrm>
            <a:off x="3776135" y="6422854"/>
            <a:ext cx="4279669" cy="365125"/>
          </a:xfrm>
        </p:spPr>
        <p:txBody>
          <a:bodyPr/>
          <a:lstStyle/>
          <a:p>
            <a:endParaRPr lang="en-US" dirty="0"/>
          </a:p>
        </p:txBody>
      </p:sp>
      <p:sp>
        <p:nvSpPr>
          <p:cNvPr id="6" name="Slide Number Placeholder 5"/>
          <p:cNvSpPr>
            <a:spLocks noGrp="1"/>
          </p:cNvSpPr>
          <p:nvPr>
            <p:ph type="sldNum" sz="quarter" idx="12"/>
          </p:nvPr>
        </p:nvSpPr>
        <p:spPr>
          <a:xfrm>
            <a:off x="8073048" y="6422854"/>
            <a:ext cx="879759" cy="365125"/>
          </a:xfrm>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84879565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05459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96DFF08F-DC6B-4601-B491-B0F83F6DD2DA}" type="datetimeFigureOut">
              <a:rPr lang="en-US" dirty="0"/>
              <a:pPr/>
              <a:t>7/15/2026</a:t>
            </a:fld>
            <a:endParaRPr lang="en-US" dirty="0"/>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en-US" dirty="0"/>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385555357"/>
      </p:ext>
    </p:extLst>
  </p:cSld>
  <p:clrMap bg1="dk1" tx1="lt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418320" y="-2011680"/>
            <a:ext cx="5486400" cy="5486400"/>
          </a:xfrm>
          <a:prstGeom prst="ellipse">
            <a:avLst/>
          </a:prstGeom>
          <a:solidFill>
            <a:srgbClr val="263876"/>
          </a:solidFill>
          <a:ln/>
        </p:spPr>
      </p:sp>
      <p:sp>
        <p:nvSpPr>
          <p:cNvPr id="3" name="Shape 1"/>
          <p:cNvSpPr/>
          <p:nvPr/>
        </p:nvSpPr>
        <p:spPr>
          <a:xfrm>
            <a:off x="-2286000" y="4389120"/>
            <a:ext cx="4572000" cy="4572000"/>
          </a:xfrm>
          <a:prstGeom prst="ellipse">
            <a:avLst/>
          </a:prstGeom>
          <a:solidFill>
            <a:srgbClr val="263876"/>
          </a:solidFill>
          <a:ln/>
        </p:spPr>
        <p:txBody>
          <a:bodyPr/>
          <a:lstStyle/>
          <a:p>
            <a:endParaRPr lang="en-IN" dirty="0"/>
          </a:p>
        </p:txBody>
      </p:sp>
      <p:sp>
        <p:nvSpPr>
          <p:cNvPr id="4" name="Text 2"/>
          <p:cNvSpPr/>
          <p:nvPr/>
        </p:nvSpPr>
        <p:spPr>
          <a:xfrm>
            <a:off x="822960" y="1371600"/>
            <a:ext cx="7315200" cy="365760"/>
          </a:xfrm>
          <a:prstGeom prst="rect">
            <a:avLst/>
          </a:prstGeom>
          <a:noFill/>
          <a:ln/>
        </p:spPr>
        <p:txBody>
          <a:bodyPr wrap="square" rtlCol="0" anchor="ctr"/>
          <a:lstStyle/>
          <a:p>
            <a:pPr marL="0" indent="0">
              <a:buNone/>
            </a:pPr>
            <a:r>
              <a:rPr lang="en-US" sz="1600" b="1" kern="0" spc="200" dirty="0">
                <a:solidFill>
                  <a:srgbClr val="D9A441"/>
                </a:solidFill>
                <a:latin typeface="Times New Roman" panose="02020603050405020304" pitchFamily="18" charset="0"/>
                <a:ea typeface="Calibri" pitchFamily="34" charset="-122"/>
                <a:cs typeface="Times New Roman" panose="02020603050405020304" pitchFamily="18" charset="0"/>
              </a:rPr>
              <a:t>MBA FINANCE PROJECT  •  APRIL 2026</a:t>
            </a:r>
            <a:endParaRPr lang="en-US" sz="1600" dirty="0">
              <a:latin typeface="Times New Roman" panose="02020603050405020304" pitchFamily="18" charset="0"/>
              <a:cs typeface="Times New Roman" panose="02020603050405020304" pitchFamily="18" charset="0"/>
            </a:endParaRPr>
          </a:p>
        </p:txBody>
      </p:sp>
      <p:sp>
        <p:nvSpPr>
          <p:cNvPr id="5" name="Text 3"/>
          <p:cNvSpPr/>
          <p:nvPr/>
        </p:nvSpPr>
        <p:spPr>
          <a:xfrm>
            <a:off x="822960" y="1828800"/>
            <a:ext cx="9601200" cy="1828800"/>
          </a:xfrm>
          <a:prstGeom prst="rect">
            <a:avLst/>
          </a:prstGeom>
          <a:noFill/>
          <a:ln/>
        </p:spPr>
        <p:txBody>
          <a:bodyPr wrap="square" rtlCol="0" anchor="ctr"/>
          <a:lstStyle/>
          <a:p>
            <a:pPr marL="0" indent="0">
              <a:lnSpc>
                <a:spcPct val="105000"/>
              </a:lnSpc>
              <a:buNone/>
            </a:pPr>
            <a:r>
              <a:rPr lang="en-US" sz="4200" b="1" dirty="0">
                <a:solidFill>
                  <a:srgbClr val="FFFFFF"/>
                </a:solidFill>
                <a:latin typeface="Times New Roman" panose="02020603050405020304" pitchFamily="18" charset="0"/>
                <a:ea typeface="Cambria" pitchFamily="34" charset="-122"/>
                <a:cs typeface="Times New Roman" panose="02020603050405020304" pitchFamily="18" charset="0"/>
              </a:rPr>
              <a:t>A Study on Risk and Return</a:t>
            </a:r>
            <a:endParaRPr lang="en-US" sz="4200" dirty="0">
              <a:latin typeface="Times New Roman" panose="02020603050405020304" pitchFamily="18" charset="0"/>
              <a:cs typeface="Times New Roman" panose="02020603050405020304" pitchFamily="18" charset="0"/>
            </a:endParaRPr>
          </a:p>
          <a:p>
            <a:pPr marL="0" indent="0">
              <a:lnSpc>
                <a:spcPct val="105000"/>
              </a:lnSpc>
              <a:buNone/>
            </a:pPr>
            <a:r>
              <a:rPr lang="en-US" sz="4200" b="1" dirty="0">
                <a:solidFill>
                  <a:srgbClr val="FFFFFF"/>
                </a:solidFill>
                <a:latin typeface="Times New Roman" panose="02020603050405020304" pitchFamily="18" charset="0"/>
                <a:ea typeface="Cambria" pitchFamily="34" charset="-122"/>
                <a:cs typeface="Times New Roman" panose="02020603050405020304" pitchFamily="18" charset="0"/>
              </a:rPr>
              <a:t>Analysis in Equities</a:t>
            </a:r>
            <a:endParaRPr lang="en-US" sz="4200" dirty="0">
              <a:latin typeface="Times New Roman" panose="02020603050405020304" pitchFamily="18" charset="0"/>
              <a:cs typeface="Times New Roman" panose="02020603050405020304" pitchFamily="18" charset="0"/>
            </a:endParaRPr>
          </a:p>
        </p:txBody>
      </p:sp>
      <p:sp>
        <p:nvSpPr>
          <p:cNvPr id="6" name="Text 4"/>
          <p:cNvSpPr/>
          <p:nvPr/>
        </p:nvSpPr>
        <p:spPr>
          <a:xfrm>
            <a:off x="822960" y="3611880"/>
            <a:ext cx="7315200" cy="457200"/>
          </a:xfrm>
          <a:prstGeom prst="rect">
            <a:avLst/>
          </a:prstGeom>
          <a:noFill/>
          <a:ln/>
        </p:spPr>
        <p:txBody>
          <a:bodyPr wrap="square" rtlCol="0" anchor="ctr"/>
          <a:lstStyle/>
          <a:p>
            <a:pPr marL="0" indent="0">
              <a:buNone/>
            </a:pPr>
            <a:r>
              <a:rPr lang="en-US" sz="2000" i="1" dirty="0">
                <a:solidFill>
                  <a:srgbClr val="CADCFC"/>
                </a:solidFill>
                <a:latin typeface="Times New Roman" panose="02020603050405020304" pitchFamily="18" charset="0"/>
                <a:ea typeface="Calibri" pitchFamily="34" charset="-122"/>
                <a:cs typeface="Times New Roman" panose="02020603050405020304" pitchFamily="18" charset="0"/>
              </a:rPr>
              <a:t>At Ventura Securities Ltd</a:t>
            </a:r>
            <a:endParaRPr lang="en-US" sz="2000" dirty="0">
              <a:latin typeface="Times New Roman" panose="02020603050405020304" pitchFamily="18" charset="0"/>
              <a:cs typeface="Times New Roman" panose="02020603050405020304" pitchFamily="18" charset="0"/>
            </a:endParaRPr>
          </a:p>
        </p:txBody>
      </p:sp>
      <p:sp>
        <p:nvSpPr>
          <p:cNvPr id="7" name="Shape 5"/>
          <p:cNvSpPr/>
          <p:nvPr/>
        </p:nvSpPr>
        <p:spPr>
          <a:xfrm>
            <a:off x="822960" y="4343400"/>
            <a:ext cx="2926080" cy="0"/>
          </a:xfrm>
          <a:prstGeom prst="line">
            <a:avLst/>
          </a:prstGeom>
          <a:noFill/>
          <a:ln w="25400">
            <a:solidFill>
              <a:srgbClr val="D9A441"/>
            </a:solidFill>
            <a:prstDash val="solid"/>
          </a:ln>
        </p:spPr>
      </p:sp>
      <p:sp>
        <p:nvSpPr>
          <p:cNvPr id="8" name="Text 6"/>
          <p:cNvSpPr/>
          <p:nvPr/>
        </p:nvSpPr>
        <p:spPr>
          <a:xfrm>
            <a:off x="1899920" y="4572000"/>
            <a:ext cx="7315200" cy="1005840"/>
          </a:xfrm>
          <a:prstGeom prst="rect">
            <a:avLst/>
          </a:prstGeom>
          <a:noFill/>
          <a:ln/>
        </p:spPr>
        <p:txBody>
          <a:bodyPr wrap="square" rtlCol="0" anchor="ctr"/>
          <a:lstStyle/>
          <a:p>
            <a:pPr marL="0" indent="0" algn="ctr">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HOSUR BINDU MANASA</a:t>
            </a:r>
            <a:endParaRPr lang="en-US" sz="1400" dirty="0">
              <a:latin typeface="Times New Roman" panose="02020603050405020304" pitchFamily="18" charset="0"/>
              <a:cs typeface="Times New Roman" panose="02020603050405020304" pitchFamily="18" charset="0"/>
            </a:endParaRPr>
          </a:p>
          <a:p>
            <a:pPr marL="0" indent="0" algn="ctr">
              <a:buNone/>
            </a:pPr>
            <a:r>
              <a:rPr lang="en-US" sz="1200" dirty="0">
                <a:solidFill>
                  <a:srgbClr val="CADCFC"/>
                </a:solidFill>
                <a:latin typeface="Times New Roman" panose="02020603050405020304" pitchFamily="18" charset="0"/>
                <a:ea typeface="Calibri" pitchFamily="34" charset="-122"/>
                <a:cs typeface="Times New Roman" panose="02020603050405020304" pitchFamily="18" charset="0"/>
              </a:rPr>
              <a:t>Roll No: 24R21E0053</a:t>
            </a:r>
            <a:endParaRPr lang="en-US" sz="1400" dirty="0">
              <a:latin typeface="Times New Roman" panose="02020603050405020304" pitchFamily="18" charset="0"/>
              <a:cs typeface="Times New Roman" panose="02020603050405020304" pitchFamily="18" charset="0"/>
            </a:endParaRPr>
          </a:p>
          <a:p>
            <a:pPr marL="0" indent="0" algn="ctr">
              <a:buNone/>
            </a:pPr>
            <a:r>
              <a:rPr lang="en-US" sz="1200" dirty="0">
                <a:solidFill>
                  <a:srgbClr val="CADCFC"/>
                </a:solidFill>
                <a:latin typeface="Times New Roman" panose="02020603050405020304" pitchFamily="18" charset="0"/>
                <a:ea typeface="Calibri" pitchFamily="34" charset="-122"/>
                <a:cs typeface="Times New Roman" panose="02020603050405020304" pitchFamily="18" charset="0"/>
              </a:rPr>
              <a:t>Under the guidance of Dr. Gudimetla Aruna, Associate Professor</a:t>
            </a:r>
            <a:endParaRPr lang="en-US" sz="1400" dirty="0">
              <a:latin typeface="Times New Roman" panose="02020603050405020304" pitchFamily="18" charset="0"/>
              <a:cs typeface="Times New Roman" panose="02020603050405020304" pitchFamily="18" charset="0"/>
            </a:endParaRPr>
          </a:p>
        </p:txBody>
      </p:sp>
      <p:sp>
        <p:nvSpPr>
          <p:cNvPr id="9" name="Text 7"/>
          <p:cNvSpPr/>
          <p:nvPr/>
        </p:nvSpPr>
        <p:spPr>
          <a:xfrm>
            <a:off x="2174240" y="5989320"/>
            <a:ext cx="7315200" cy="548640"/>
          </a:xfrm>
          <a:prstGeom prst="rect">
            <a:avLst/>
          </a:prstGeom>
          <a:noFill/>
          <a:ln/>
        </p:spPr>
        <p:txBody>
          <a:bodyPr wrap="square" rtlCol="0" anchor="ctr"/>
          <a:lstStyle/>
          <a:p>
            <a:pPr marL="0" indent="0" algn="ctr">
              <a:buNone/>
            </a:pPr>
            <a:r>
              <a:rPr lang="en-US" sz="1600" dirty="0">
                <a:solidFill>
                  <a:srgbClr val="9AA6D6"/>
                </a:solidFill>
                <a:latin typeface="Times New Roman" panose="02020603050405020304" pitchFamily="18" charset="0"/>
                <a:ea typeface="Calibri" pitchFamily="34" charset="-122"/>
                <a:cs typeface="Times New Roman" panose="02020603050405020304" pitchFamily="18" charset="0"/>
              </a:rPr>
              <a:t>MLR Institute of Technology (Autonomous), Hyderabad</a:t>
            </a:r>
            <a:endParaRPr lang="en-US" sz="1600" dirty="0">
              <a:latin typeface="Times New Roman" panose="02020603050405020304" pitchFamily="18" charset="0"/>
              <a:cs typeface="Times New Roman" panose="02020603050405020304" pitchFamily="18" charset="0"/>
            </a:endParaRPr>
          </a:p>
          <a:p>
            <a:pPr marL="0" indent="0" algn="ctr">
              <a:buNone/>
            </a:pPr>
            <a:r>
              <a:rPr lang="en-US" sz="1600" dirty="0">
                <a:solidFill>
                  <a:srgbClr val="9AA6D6"/>
                </a:solidFill>
                <a:latin typeface="Times New Roman" panose="02020603050405020304" pitchFamily="18" charset="0"/>
                <a:ea typeface="Calibri" pitchFamily="34" charset="-122"/>
                <a:cs typeface="Times New Roman" panose="02020603050405020304" pitchFamily="18" charset="0"/>
              </a:rPr>
              <a:t>Affiliated to JNTU Hyderabad</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5486400" cy="274320"/>
          </a:xfrm>
          <a:prstGeom prst="rect">
            <a:avLst/>
          </a:prstGeom>
          <a:noFill/>
          <a:ln/>
        </p:spPr>
        <p:txBody>
          <a:bodyPr wrap="square" rtlCol="0" anchor="ctr"/>
          <a:lstStyle/>
          <a:p>
            <a:pPr marL="0" indent="0">
              <a:buNone/>
            </a:pPr>
            <a:r>
              <a:rPr lang="en-US" sz="1200" b="1" kern="0" spc="200" dirty="0">
                <a:solidFill>
                  <a:srgbClr val="D9A441"/>
                </a:solidFill>
                <a:latin typeface="Times New Roman" panose="02020603050405020304" pitchFamily="18" charset="0"/>
                <a:ea typeface="Calibri" pitchFamily="34" charset="-122"/>
                <a:cs typeface="Times New Roman" panose="02020603050405020304" pitchFamily="18" charset="0"/>
              </a:rPr>
              <a:t>OVERVIEW</a:t>
            </a:r>
            <a:endParaRPr lang="en-US" sz="1200" dirty="0">
              <a:latin typeface="Times New Roman" panose="02020603050405020304" pitchFamily="18" charset="0"/>
              <a:cs typeface="Times New Roman" panose="02020603050405020304" pitchFamily="18" charset="0"/>
            </a:endParaRPr>
          </a:p>
        </p:txBody>
      </p:sp>
      <p:sp>
        <p:nvSpPr>
          <p:cNvPr id="3" name="Text 1"/>
          <p:cNvSpPr/>
          <p:nvPr/>
        </p:nvSpPr>
        <p:spPr>
          <a:xfrm>
            <a:off x="548640" y="365760"/>
            <a:ext cx="11091672" cy="731520"/>
          </a:xfrm>
          <a:prstGeom prst="rect">
            <a:avLst/>
          </a:prstGeom>
          <a:noFill/>
          <a:ln/>
        </p:spPr>
        <p:txBody>
          <a:bodyPr wrap="square" rtlCol="0" anchor="ctr"/>
          <a:lstStyle/>
          <a:p>
            <a:pPr marL="0" indent="0">
              <a:buNone/>
            </a:pPr>
            <a:r>
              <a:rPr lang="en-US" sz="3000" b="1" dirty="0">
                <a:solidFill>
                  <a:srgbClr val="1E2761"/>
                </a:solidFill>
                <a:latin typeface="Times New Roman" panose="02020603050405020304" pitchFamily="18" charset="0"/>
                <a:ea typeface="Cambria" pitchFamily="34" charset="-122"/>
                <a:cs typeface="Times New Roman" panose="02020603050405020304" pitchFamily="18" charset="0"/>
              </a:rPr>
              <a:t>What This Presentation Covers</a:t>
            </a:r>
            <a:endParaRPr lang="en-US" sz="3000" dirty="0">
              <a:latin typeface="Times New Roman" panose="02020603050405020304" pitchFamily="18" charset="0"/>
              <a:cs typeface="Times New Roman" panose="02020603050405020304" pitchFamily="18" charset="0"/>
            </a:endParaRPr>
          </a:p>
        </p:txBody>
      </p:sp>
      <p:sp>
        <p:nvSpPr>
          <p:cNvPr id="4" name="Shape 2"/>
          <p:cNvSpPr/>
          <p:nvPr/>
        </p:nvSpPr>
        <p:spPr>
          <a:xfrm>
            <a:off x="548640" y="1417320"/>
            <a:ext cx="11091672" cy="804672"/>
          </a:xfrm>
          <a:prstGeom prst="roundRect">
            <a:avLst>
              <a:gd name="adj" fmla="val 9091"/>
            </a:avLst>
          </a:prstGeom>
          <a:solidFill>
            <a:srgbClr val="F4F6FB"/>
          </a:solidFill>
          <a:ln/>
        </p:spPr>
      </p:sp>
      <p:sp>
        <p:nvSpPr>
          <p:cNvPr id="5" name="Shape 3"/>
          <p:cNvSpPr/>
          <p:nvPr/>
        </p:nvSpPr>
        <p:spPr>
          <a:xfrm>
            <a:off x="777240" y="1591056"/>
            <a:ext cx="457200" cy="457200"/>
          </a:xfrm>
          <a:prstGeom prst="ellipse">
            <a:avLst/>
          </a:prstGeom>
          <a:solidFill>
            <a:srgbClr val="1E2761"/>
          </a:solidFill>
          <a:ln/>
        </p:spPr>
      </p:sp>
      <p:sp>
        <p:nvSpPr>
          <p:cNvPr id="6" name="Text 4"/>
          <p:cNvSpPr/>
          <p:nvPr/>
        </p:nvSpPr>
        <p:spPr>
          <a:xfrm>
            <a:off x="777240" y="1591056"/>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01</a:t>
            </a:r>
            <a:endParaRPr lang="en-US" sz="1400" dirty="0"/>
          </a:p>
        </p:txBody>
      </p:sp>
      <p:sp>
        <p:nvSpPr>
          <p:cNvPr id="7" name="Text 5"/>
          <p:cNvSpPr/>
          <p:nvPr/>
        </p:nvSpPr>
        <p:spPr>
          <a:xfrm>
            <a:off x="1508760" y="1508760"/>
            <a:ext cx="4023360" cy="320040"/>
          </a:xfrm>
          <a:prstGeom prst="rect">
            <a:avLst/>
          </a:prstGeom>
          <a:noFill/>
          <a:ln/>
        </p:spPr>
        <p:txBody>
          <a:bodyPr wrap="square" rtlCol="0" anchor="ctr"/>
          <a:lstStyle/>
          <a:p>
            <a:pPr marL="0" indent="0">
              <a:buNone/>
            </a:pPr>
            <a:r>
              <a:rPr lang="en-US" sz="1500" b="1" dirty="0">
                <a:solidFill>
                  <a:srgbClr val="1E2761"/>
                </a:solidFill>
                <a:latin typeface="Times New Roman" panose="02020603050405020304" pitchFamily="18" charset="0"/>
                <a:ea typeface="Calibri" pitchFamily="34" charset="-122"/>
                <a:cs typeface="Times New Roman" panose="02020603050405020304" pitchFamily="18" charset="0"/>
              </a:rPr>
              <a:t>Introduction</a:t>
            </a:r>
            <a:endParaRPr lang="en-US" sz="1500" dirty="0">
              <a:latin typeface="Times New Roman" panose="02020603050405020304" pitchFamily="18" charset="0"/>
              <a:cs typeface="Times New Roman" panose="02020603050405020304" pitchFamily="18" charset="0"/>
            </a:endParaRPr>
          </a:p>
        </p:txBody>
      </p:sp>
      <p:sp>
        <p:nvSpPr>
          <p:cNvPr id="8" name="Text 6"/>
          <p:cNvSpPr/>
          <p:nvPr/>
        </p:nvSpPr>
        <p:spPr>
          <a:xfrm>
            <a:off x="1508760" y="1801368"/>
            <a:ext cx="9601200" cy="365760"/>
          </a:xfrm>
          <a:prstGeom prst="rect">
            <a:avLst/>
          </a:prstGeom>
          <a:noFill/>
          <a:ln/>
        </p:spPr>
        <p:txBody>
          <a:bodyPr wrap="square" rtlCol="0" anchor="ctr"/>
          <a:lstStyle/>
          <a:p>
            <a:pPr marL="0" indent="0">
              <a:buNone/>
            </a:pPr>
            <a:r>
              <a:rPr lang="en-US" sz="1150" dirty="0">
                <a:solidFill>
                  <a:srgbClr val="1B1B2F"/>
                </a:solidFill>
                <a:latin typeface="Times New Roman" panose="02020603050405020304" pitchFamily="18" charset="0"/>
                <a:ea typeface="Calibri" pitchFamily="34" charset="-122"/>
                <a:cs typeface="Times New Roman" panose="02020603050405020304" pitchFamily="18" charset="0"/>
              </a:rPr>
              <a:t>Meaning and significance of risk-return analysis in equities</a:t>
            </a:r>
            <a:endParaRPr lang="en-US" sz="1150" dirty="0">
              <a:latin typeface="Times New Roman" panose="02020603050405020304" pitchFamily="18" charset="0"/>
              <a:cs typeface="Times New Roman" panose="02020603050405020304" pitchFamily="18" charset="0"/>
            </a:endParaRPr>
          </a:p>
        </p:txBody>
      </p:sp>
      <p:sp>
        <p:nvSpPr>
          <p:cNvPr id="9" name="Shape 7"/>
          <p:cNvSpPr/>
          <p:nvPr/>
        </p:nvSpPr>
        <p:spPr>
          <a:xfrm>
            <a:off x="548640" y="2377440"/>
            <a:ext cx="11091672" cy="804672"/>
          </a:xfrm>
          <a:prstGeom prst="roundRect">
            <a:avLst>
              <a:gd name="adj" fmla="val 9091"/>
            </a:avLst>
          </a:prstGeom>
          <a:solidFill>
            <a:srgbClr val="FFFFFF"/>
          </a:solidFill>
          <a:ln/>
        </p:spPr>
      </p:sp>
      <p:sp>
        <p:nvSpPr>
          <p:cNvPr id="10" name="Shape 8"/>
          <p:cNvSpPr/>
          <p:nvPr/>
        </p:nvSpPr>
        <p:spPr>
          <a:xfrm>
            <a:off x="777240" y="2551176"/>
            <a:ext cx="457200" cy="457200"/>
          </a:xfrm>
          <a:prstGeom prst="ellipse">
            <a:avLst/>
          </a:prstGeom>
          <a:solidFill>
            <a:srgbClr val="1E2761"/>
          </a:solidFill>
          <a:ln/>
        </p:spPr>
      </p:sp>
      <p:sp>
        <p:nvSpPr>
          <p:cNvPr id="11" name="Text 9"/>
          <p:cNvSpPr/>
          <p:nvPr/>
        </p:nvSpPr>
        <p:spPr>
          <a:xfrm>
            <a:off x="777240" y="2551176"/>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02</a:t>
            </a:r>
            <a:endParaRPr lang="en-US" sz="1400" dirty="0"/>
          </a:p>
        </p:txBody>
      </p:sp>
      <p:sp>
        <p:nvSpPr>
          <p:cNvPr id="12" name="Text 10"/>
          <p:cNvSpPr/>
          <p:nvPr/>
        </p:nvSpPr>
        <p:spPr>
          <a:xfrm>
            <a:off x="1508760" y="2468880"/>
            <a:ext cx="4023360" cy="320040"/>
          </a:xfrm>
          <a:prstGeom prst="rect">
            <a:avLst/>
          </a:prstGeom>
          <a:noFill/>
          <a:ln/>
        </p:spPr>
        <p:txBody>
          <a:bodyPr wrap="square" rtlCol="0" anchor="ctr"/>
          <a:lstStyle/>
          <a:p>
            <a:pPr marL="0" indent="0">
              <a:buNone/>
            </a:pPr>
            <a:r>
              <a:rPr lang="en-US" sz="1500" b="1" dirty="0">
                <a:solidFill>
                  <a:srgbClr val="1E2761"/>
                </a:solidFill>
                <a:latin typeface="Times New Roman" panose="02020603050405020304" pitchFamily="18" charset="0"/>
                <a:ea typeface="Calibri" pitchFamily="34" charset="-122"/>
                <a:cs typeface="Times New Roman" panose="02020603050405020304" pitchFamily="18" charset="0"/>
              </a:rPr>
              <a:t>Objectives &amp; Methodology</a:t>
            </a:r>
            <a:endParaRPr lang="en-US" sz="1500" dirty="0">
              <a:latin typeface="Times New Roman" panose="02020603050405020304" pitchFamily="18" charset="0"/>
              <a:cs typeface="Times New Roman" panose="02020603050405020304" pitchFamily="18" charset="0"/>
            </a:endParaRPr>
          </a:p>
        </p:txBody>
      </p:sp>
      <p:sp>
        <p:nvSpPr>
          <p:cNvPr id="13" name="Text 11"/>
          <p:cNvSpPr/>
          <p:nvPr/>
        </p:nvSpPr>
        <p:spPr>
          <a:xfrm>
            <a:off x="1508760" y="2761488"/>
            <a:ext cx="9601200" cy="365760"/>
          </a:xfrm>
          <a:prstGeom prst="rect">
            <a:avLst/>
          </a:prstGeom>
          <a:noFill/>
          <a:ln/>
        </p:spPr>
        <p:txBody>
          <a:bodyPr wrap="square" rtlCol="0" anchor="ctr"/>
          <a:lstStyle/>
          <a:p>
            <a:pPr marL="0" indent="0">
              <a:buNone/>
            </a:pPr>
            <a:r>
              <a:rPr lang="en-US" sz="1150" dirty="0">
                <a:solidFill>
                  <a:srgbClr val="1B1B2F"/>
                </a:solidFill>
                <a:latin typeface="Times New Roman" panose="02020603050405020304" pitchFamily="18" charset="0"/>
                <a:ea typeface="Calibri" pitchFamily="34" charset="-122"/>
                <a:cs typeface="Times New Roman" panose="02020603050405020304" pitchFamily="18" charset="0"/>
              </a:rPr>
              <a:t>Study scope, formulas, and analytical approach</a:t>
            </a:r>
            <a:endParaRPr lang="en-US" sz="1150" dirty="0">
              <a:latin typeface="Times New Roman" panose="02020603050405020304" pitchFamily="18" charset="0"/>
              <a:cs typeface="Times New Roman" panose="02020603050405020304" pitchFamily="18" charset="0"/>
            </a:endParaRPr>
          </a:p>
        </p:txBody>
      </p:sp>
      <p:sp>
        <p:nvSpPr>
          <p:cNvPr id="14" name="Shape 12"/>
          <p:cNvSpPr/>
          <p:nvPr/>
        </p:nvSpPr>
        <p:spPr>
          <a:xfrm>
            <a:off x="548640" y="3337560"/>
            <a:ext cx="11091672" cy="804672"/>
          </a:xfrm>
          <a:prstGeom prst="roundRect">
            <a:avLst>
              <a:gd name="adj" fmla="val 9091"/>
            </a:avLst>
          </a:prstGeom>
          <a:solidFill>
            <a:srgbClr val="F4F6FB"/>
          </a:solidFill>
          <a:ln/>
        </p:spPr>
      </p:sp>
      <p:sp>
        <p:nvSpPr>
          <p:cNvPr id="15" name="Shape 13"/>
          <p:cNvSpPr/>
          <p:nvPr/>
        </p:nvSpPr>
        <p:spPr>
          <a:xfrm>
            <a:off x="777240" y="3511296"/>
            <a:ext cx="457200" cy="457200"/>
          </a:xfrm>
          <a:prstGeom prst="ellipse">
            <a:avLst/>
          </a:prstGeom>
          <a:solidFill>
            <a:srgbClr val="1E2761"/>
          </a:solidFill>
          <a:ln/>
        </p:spPr>
      </p:sp>
      <p:sp>
        <p:nvSpPr>
          <p:cNvPr id="16" name="Text 14"/>
          <p:cNvSpPr/>
          <p:nvPr/>
        </p:nvSpPr>
        <p:spPr>
          <a:xfrm>
            <a:off x="777240" y="3511296"/>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03</a:t>
            </a:r>
            <a:endParaRPr lang="en-US" sz="1400" dirty="0"/>
          </a:p>
        </p:txBody>
      </p:sp>
      <p:sp>
        <p:nvSpPr>
          <p:cNvPr id="17" name="Text 15"/>
          <p:cNvSpPr/>
          <p:nvPr/>
        </p:nvSpPr>
        <p:spPr>
          <a:xfrm>
            <a:off x="1508760" y="3429000"/>
            <a:ext cx="4023360" cy="320040"/>
          </a:xfrm>
          <a:prstGeom prst="rect">
            <a:avLst/>
          </a:prstGeom>
          <a:noFill/>
          <a:ln/>
        </p:spPr>
        <p:txBody>
          <a:bodyPr wrap="square" rtlCol="0" anchor="ctr"/>
          <a:lstStyle/>
          <a:p>
            <a:pPr marL="0" indent="0">
              <a:buNone/>
            </a:pPr>
            <a:r>
              <a:rPr lang="en-US" sz="1500" b="1" dirty="0">
                <a:solidFill>
                  <a:srgbClr val="1E2761"/>
                </a:solidFill>
                <a:latin typeface="Times New Roman" panose="02020603050405020304" pitchFamily="18" charset="0"/>
                <a:ea typeface="Calibri" pitchFamily="34" charset="-122"/>
                <a:cs typeface="Times New Roman" panose="02020603050405020304" pitchFamily="18" charset="0"/>
              </a:rPr>
              <a:t>Company Profile</a:t>
            </a:r>
            <a:endParaRPr lang="en-US" sz="1500" dirty="0">
              <a:latin typeface="Times New Roman" panose="02020603050405020304" pitchFamily="18" charset="0"/>
              <a:cs typeface="Times New Roman" panose="02020603050405020304" pitchFamily="18" charset="0"/>
            </a:endParaRPr>
          </a:p>
        </p:txBody>
      </p:sp>
      <p:sp>
        <p:nvSpPr>
          <p:cNvPr id="18" name="Text 16"/>
          <p:cNvSpPr/>
          <p:nvPr/>
        </p:nvSpPr>
        <p:spPr>
          <a:xfrm>
            <a:off x="1508760" y="3721608"/>
            <a:ext cx="9601200" cy="365760"/>
          </a:xfrm>
          <a:prstGeom prst="rect">
            <a:avLst/>
          </a:prstGeom>
          <a:noFill/>
          <a:ln/>
        </p:spPr>
        <p:txBody>
          <a:bodyPr wrap="square" rtlCol="0" anchor="ctr"/>
          <a:lstStyle/>
          <a:p>
            <a:pPr marL="0" indent="0">
              <a:buNone/>
            </a:pPr>
            <a:r>
              <a:rPr lang="en-US" sz="1150" dirty="0">
                <a:solidFill>
                  <a:srgbClr val="1B1B2F"/>
                </a:solidFill>
                <a:latin typeface="Times New Roman" panose="02020603050405020304" pitchFamily="18" charset="0"/>
                <a:ea typeface="Calibri" pitchFamily="34" charset="-122"/>
                <a:cs typeface="Times New Roman" panose="02020603050405020304" pitchFamily="18" charset="0"/>
              </a:rPr>
              <a:t>Ventura Securities Ltd and the industry context</a:t>
            </a:r>
            <a:endParaRPr lang="en-US" sz="1150" dirty="0">
              <a:latin typeface="Times New Roman" panose="02020603050405020304" pitchFamily="18" charset="0"/>
              <a:cs typeface="Times New Roman" panose="02020603050405020304" pitchFamily="18" charset="0"/>
            </a:endParaRPr>
          </a:p>
        </p:txBody>
      </p:sp>
      <p:sp>
        <p:nvSpPr>
          <p:cNvPr id="19" name="Shape 17"/>
          <p:cNvSpPr/>
          <p:nvPr/>
        </p:nvSpPr>
        <p:spPr>
          <a:xfrm>
            <a:off x="548640" y="4297680"/>
            <a:ext cx="11091672" cy="804672"/>
          </a:xfrm>
          <a:prstGeom prst="roundRect">
            <a:avLst>
              <a:gd name="adj" fmla="val 9091"/>
            </a:avLst>
          </a:prstGeom>
          <a:solidFill>
            <a:srgbClr val="FFFFFF"/>
          </a:solidFill>
          <a:ln/>
        </p:spPr>
      </p:sp>
      <p:sp>
        <p:nvSpPr>
          <p:cNvPr id="20" name="Shape 18"/>
          <p:cNvSpPr/>
          <p:nvPr/>
        </p:nvSpPr>
        <p:spPr>
          <a:xfrm>
            <a:off x="777240" y="4471416"/>
            <a:ext cx="457200" cy="457200"/>
          </a:xfrm>
          <a:prstGeom prst="ellipse">
            <a:avLst/>
          </a:prstGeom>
          <a:solidFill>
            <a:srgbClr val="1E2761"/>
          </a:solidFill>
          <a:ln/>
        </p:spPr>
      </p:sp>
      <p:sp>
        <p:nvSpPr>
          <p:cNvPr id="21" name="Text 19"/>
          <p:cNvSpPr/>
          <p:nvPr/>
        </p:nvSpPr>
        <p:spPr>
          <a:xfrm>
            <a:off x="777240" y="4471416"/>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04</a:t>
            </a:r>
            <a:endParaRPr lang="en-US" sz="1400" dirty="0"/>
          </a:p>
        </p:txBody>
      </p:sp>
      <p:sp>
        <p:nvSpPr>
          <p:cNvPr id="22" name="Text 20"/>
          <p:cNvSpPr/>
          <p:nvPr/>
        </p:nvSpPr>
        <p:spPr>
          <a:xfrm>
            <a:off x="1508760" y="4389120"/>
            <a:ext cx="4023360" cy="320040"/>
          </a:xfrm>
          <a:prstGeom prst="rect">
            <a:avLst/>
          </a:prstGeom>
          <a:noFill/>
          <a:ln/>
        </p:spPr>
        <p:txBody>
          <a:bodyPr wrap="square" rtlCol="0" anchor="ctr"/>
          <a:lstStyle/>
          <a:p>
            <a:pPr marL="0" indent="0">
              <a:buNone/>
            </a:pPr>
            <a:r>
              <a:rPr lang="en-US" sz="1500" b="1" dirty="0">
                <a:solidFill>
                  <a:srgbClr val="1E2761"/>
                </a:solidFill>
                <a:latin typeface="Times New Roman" panose="02020603050405020304" pitchFamily="18" charset="0"/>
                <a:ea typeface="Calibri" pitchFamily="34" charset="-122"/>
                <a:cs typeface="Times New Roman" panose="02020603050405020304" pitchFamily="18" charset="0"/>
              </a:rPr>
              <a:t>Data Analysis</a:t>
            </a:r>
            <a:endParaRPr lang="en-US" sz="1500" dirty="0">
              <a:latin typeface="Times New Roman" panose="02020603050405020304" pitchFamily="18" charset="0"/>
              <a:cs typeface="Times New Roman" panose="02020603050405020304" pitchFamily="18" charset="0"/>
            </a:endParaRPr>
          </a:p>
        </p:txBody>
      </p:sp>
      <p:sp>
        <p:nvSpPr>
          <p:cNvPr id="23" name="Text 21"/>
          <p:cNvSpPr/>
          <p:nvPr/>
        </p:nvSpPr>
        <p:spPr>
          <a:xfrm>
            <a:off x="1508760" y="4681728"/>
            <a:ext cx="9601200" cy="365760"/>
          </a:xfrm>
          <a:prstGeom prst="rect">
            <a:avLst/>
          </a:prstGeom>
          <a:noFill/>
          <a:ln/>
        </p:spPr>
        <p:txBody>
          <a:bodyPr wrap="square" rtlCol="0" anchor="ctr"/>
          <a:lstStyle/>
          <a:p>
            <a:pPr marL="0" indent="0">
              <a:buNone/>
            </a:pPr>
            <a:r>
              <a:rPr lang="en-US" sz="1150" dirty="0">
                <a:solidFill>
                  <a:srgbClr val="1B1B2F"/>
                </a:solidFill>
                <a:latin typeface="Times New Roman" panose="02020603050405020304" pitchFamily="18" charset="0"/>
                <a:ea typeface="Calibri" pitchFamily="34" charset="-122"/>
                <a:cs typeface="Times New Roman" panose="02020603050405020304" pitchFamily="18" charset="0"/>
              </a:rPr>
              <a:t>Return, risk, covariance, correlation, beta and Sharpe ratio</a:t>
            </a:r>
            <a:endParaRPr lang="en-US" sz="1150" dirty="0">
              <a:latin typeface="Times New Roman" panose="02020603050405020304" pitchFamily="18" charset="0"/>
              <a:cs typeface="Times New Roman" panose="02020603050405020304" pitchFamily="18" charset="0"/>
            </a:endParaRPr>
          </a:p>
        </p:txBody>
      </p:sp>
      <p:sp>
        <p:nvSpPr>
          <p:cNvPr id="24" name="Shape 22"/>
          <p:cNvSpPr/>
          <p:nvPr/>
        </p:nvSpPr>
        <p:spPr>
          <a:xfrm>
            <a:off x="548640" y="5257800"/>
            <a:ext cx="11091672" cy="804672"/>
          </a:xfrm>
          <a:prstGeom prst="roundRect">
            <a:avLst>
              <a:gd name="adj" fmla="val 9091"/>
            </a:avLst>
          </a:prstGeom>
          <a:solidFill>
            <a:srgbClr val="F4F6FB"/>
          </a:solidFill>
          <a:ln/>
        </p:spPr>
      </p:sp>
      <p:sp>
        <p:nvSpPr>
          <p:cNvPr id="25" name="Shape 23"/>
          <p:cNvSpPr/>
          <p:nvPr/>
        </p:nvSpPr>
        <p:spPr>
          <a:xfrm>
            <a:off x="777240" y="5431536"/>
            <a:ext cx="457200" cy="457200"/>
          </a:xfrm>
          <a:prstGeom prst="ellipse">
            <a:avLst/>
          </a:prstGeom>
          <a:solidFill>
            <a:srgbClr val="1E2761"/>
          </a:solidFill>
          <a:ln/>
        </p:spPr>
      </p:sp>
      <p:sp>
        <p:nvSpPr>
          <p:cNvPr id="26" name="Text 24"/>
          <p:cNvSpPr/>
          <p:nvPr/>
        </p:nvSpPr>
        <p:spPr>
          <a:xfrm>
            <a:off x="777240" y="5431536"/>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05</a:t>
            </a:r>
            <a:endParaRPr lang="en-US" sz="1400" dirty="0"/>
          </a:p>
        </p:txBody>
      </p:sp>
      <p:sp>
        <p:nvSpPr>
          <p:cNvPr id="27" name="Text 25"/>
          <p:cNvSpPr/>
          <p:nvPr/>
        </p:nvSpPr>
        <p:spPr>
          <a:xfrm>
            <a:off x="1508760" y="5349240"/>
            <a:ext cx="4023360" cy="320040"/>
          </a:xfrm>
          <a:prstGeom prst="rect">
            <a:avLst/>
          </a:prstGeom>
          <a:noFill/>
          <a:ln/>
        </p:spPr>
        <p:txBody>
          <a:bodyPr wrap="square" rtlCol="0" anchor="ctr"/>
          <a:lstStyle/>
          <a:p>
            <a:pPr marL="0" indent="0">
              <a:buNone/>
            </a:pPr>
            <a:r>
              <a:rPr lang="en-US" sz="1500" b="1" dirty="0">
                <a:solidFill>
                  <a:srgbClr val="1E2761"/>
                </a:solidFill>
                <a:latin typeface="Times New Roman" panose="02020603050405020304" pitchFamily="18" charset="0"/>
                <a:ea typeface="Calibri" pitchFamily="34" charset="-122"/>
                <a:cs typeface="Times New Roman" panose="02020603050405020304" pitchFamily="18" charset="0"/>
              </a:rPr>
              <a:t>Findings &amp; Conclusion</a:t>
            </a:r>
            <a:endParaRPr lang="en-US" sz="1500" dirty="0">
              <a:latin typeface="Times New Roman" panose="02020603050405020304" pitchFamily="18" charset="0"/>
              <a:cs typeface="Times New Roman" panose="02020603050405020304" pitchFamily="18" charset="0"/>
            </a:endParaRPr>
          </a:p>
        </p:txBody>
      </p:sp>
      <p:sp>
        <p:nvSpPr>
          <p:cNvPr id="28" name="Text 26"/>
          <p:cNvSpPr/>
          <p:nvPr/>
        </p:nvSpPr>
        <p:spPr>
          <a:xfrm>
            <a:off x="1508760" y="5641848"/>
            <a:ext cx="9601200" cy="365760"/>
          </a:xfrm>
          <a:prstGeom prst="rect">
            <a:avLst/>
          </a:prstGeom>
          <a:noFill/>
          <a:ln/>
        </p:spPr>
        <p:txBody>
          <a:bodyPr wrap="square" rtlCol="0" anchor="ctr"/>
          <a:lstStyle/>
          <a:p>
            <a:pPr marL="0" indent="0">
              <a:buNone/>
            </a:pPr>
            <a:r>
              <a:rPr lang="en-US" sz="1150" dirty="0">
                <a:solidFill>
                  <a:srgbClr val="1B1B2F"/>
                </a:solidFill>
                <a:latin typeface="Times New Roman" panose="02020603050405020304" pitchFamily="18" charset="0"/>
                <a:ea typeface="Calibri" pitchFamily="34" charset="-122"/>
                <a:cs typeface="Times New Roman" panose="02020603050405020304" pitchFamily="18" charset="0"/>
              </a:rPr>
              <a:t>Key takeaways and investment suggestions</a:t>
            </a:r>
            <a:endParaRPr lang="en-US" sz="1150" dirty="0">
              <a:latin typeface="Times New Roman" panose="02020603050405020304" pitchFamily="18" charset="0"/>
              <a:cs typeface="Times New Roman" panose="02020603050405020304" pitchFamily="18" charset="0"/>
            </a:endParaRPr>
          </a:p>
        </p:txBody>
      </p:sp>
      <p:sp>
        <p:nvSpPr>
          <p:cNvPr id="29" name="Text 27"/>
          <p:cNvSpPr/>
          <p:nvPr/>
        </p:nvSpPr>
        <p:spPr>
          <a:xfrm>
            <a:off x="457200" y="6473952"/>
            <a:ext cx="7315200" cy="274320"/>
          </a:xfrm>
          <a:prstGeom prst="rect">
            <a:avLst/>
          </a:prstGeom>
          <a:noFill/>
          <a:ln/>
        </p:spPr>
        <p:txBody>
          <a:bodyPr wrap="square" rtlCol="0" anchor="ctr"/>
          <a:lstStyle/>
          <a:p>
            <a:pPr marL="0" indent="0">
              <a:buNone/>
            </a:pPr>
            <a:r>
              <a:rPr lang="en-US" sz="900" i="1" dirty="0">
                <a:solidFill>
                  <a:srgbClr val="6B7280"/>
                </a:solidFill>
                <a:latin typeface="Times New Roman" panose="02020603050405020304" pitchFamily="18" charset="0"/>
                <a:ea typeface="Calibri" pitchFamily="34" charset="-122"/>
                <a:cs typeface="Times New Roman" panose="02020603050405020304" pitchFamily="18" charset="0"/>
              </a:rPr>
              <a:t>Risk and Return Analysis in Equities  |  Ventura Securities Ltd</a:t>
            </a:r>
            <a:endParaRPr lang="en-US" sz="900" dirty="0">
              <a:latin typeface="Times New Roman" panose="02020603050405020304" pitchFamily="18" charset="0"/>
              <a:cs typeface="Times New Roman" panose="02020603050405020304" pitchFamily="18" charset="0"/>
            </a:endParaRPr>
          </a:p>
        </p:txBody>
      </p:sp>
      <p:sp>
        <p:nvSpPr>
          <p:cNvPr id="30" name="Text 28"/>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5486400" cy="274320"/>
          </a:xfrm>
          <a:prstGeom prst="rect">
            <a:avLst/>
          </a:prstGeom>
          <a:noFill/>
          <a:ln/>
        </p:spPr>
        <p:txBody>
          <a:bodyPr wrap="square" rtlCol="0" anchor="ctr"/>
          <a:lstStyle/>
          <a:p>
            <a:pPr marL="0" indent="0">
              <a:buNone/>
            </a:pPr>
            <a:r>
              <a:rPr lang="en-US" sz="1200" b="1" kern="0" spc="200" dirty="0">
                <a:solidFill>
                  <a:srgbClr val="D9A441"/>
                </a:solidFill>
                <a:latin typeface="Times New Roman" panose="02020603050405020304" pitchFamily="18" charset="0"/>
                <a:ea typeface="Calibri" pitchFamily="34" charset="-122"/>
                <a:cs typeface="Times New Roman" panose="02020603050405020304" pitchFamily="18" charset="0"/>
              </a:rPr>
              <a:t>CHAPTER 1 · INTRODUCTION</a:t>
            </a:r>
            <a:endParaRPr lang="en-US" sz="1200" dirty="0">
              <a:latin typeface="Times New Roman" panose="02020603050405020304" pitchFamily="18" charset="0"/>
              <a:cs typeface="Times New Roman" panose="02020603050405020304" pitchFamily="18" charset="0"/>
            </a:endParaRPr>
          </a:p>
        </p:txBody>
      </p:sp>
      <p:sp>
        <p:nvSpPr>
          <p:cNvPr id="3" name="Text 1"/>
          <p:cNvSpPr/>
          <p:nvPr/>
        </p:nvSpPr>
        <p:spPr>
          <a:xfrm>
            <a:off x="548640" y="365760"/>
            <a:ext cx="11091672" cy="731520"/>
          </a:xfrm>
          <a:prstGeom prst="rect">
            <a:avLst/>
          </a:prstGeom>
          <a:noFill/>
          <a:ln/>
        </p:spPr>
        <p:txBody>
          <a:bodyPr wrap="square" rtlCol="0" anchor="ctr"/>
          <a:lstStyle/>
          <a:p>
            <a:pPr marL="0" indent="0">
              <a:buNone/>
            </a:pPr>
            <a:r>
              <a:rPr lang="en-US" sz="3000" b="1" dirty="0">
                <a:solidFill>
                  <a:srgbClr val="1E2761"/>
                </a:solidFill>
                <a:latin typeface="Times New Roman" panose="02020603050405020304" pitchFamily="18" charset="0"/>
                <a:ea typeface="Cambria" pitchFamily="34" charset="-122"/>
                <a:cs typeface="Times New Roman" panose="02020603050405020304" pitchFamily="18" charset="0"/>
              </a:rPr>
              <a:t>Understanding Risk and Return</a:t>
            </a:r>
            <a:endParaRPr lang="en-US" sz="3000" dirty="0">
              <a:latin typeface="Times New Roman" panose="02020603050405020304" pitchFamily="18" charset="0"/>
              <a:cs typeface="Times New Roman" panose="02020603050405020304" pitchFamily="18" charset="0"/>
            </a:endParaRPr>
          </a:p>
        </p:txBody>
      </p:sp>
      <p:sp>
        <p:nvSpPr>
          <p:cNvPr id="4" name="Text 2"/>
          <p:cNvSpPr/>
          <p:nvPr/>
        </p:nvSpPr>
        <p:spPr>
          <a:xfrm>
            <a:off x="548640" y="1234440"/>
            <a:ext cx="11091672" cy="640080"/>
          </a:xfrm>
          <a:prstGeom prst="rect">
            <a:avLst/>
          </a:prstGeom>
          <a:noFill/>
          <a:ln/>
        </p:spPr>
        <p:txBody>
          <a:bodyPr wrap="square" rtlCol="0" anchor="ctr"/>
          <a:lstStyle/>
          <a:p>
            <a:pPr marL="0" indent="0">
              <a:buNone/>
            </a:pPr>
            <a:r>
              <a:rPr lang="en-US" sz="1300" dirty="0">
                <a:solidFill>
                  <a:srgbClr val="1B1B2F"/>
                </a:solidFill>
                <a:latin typeface="Times New Roman" panose="02020603050405020304" pitchFamily="18" charset="0"/>
                <a:ea typeface="Calibri" pitchFamily="34" charset="-122"/>
                <a:cs typeface="Times New Roman" panose="02020603050405020304" pitchFamily="18" charset="0"/>
              </a:rPr>
              <a:t>Return is the financial gain or loss from an investment; risk is the uncertainty of achieving that return. The two are inseparable — higher potential reward generally demands accepting greater uncertainty.</a:t>
            </a:r>
            <a:endParaRPr lang="en-US" sz="1300" dirty="0">
              <a:latin typeface="Times New Roman" panose="02020603050405020304" pitchFamily="18" charset="0"/>
              <a:cs typeface="Times New Roman" panose="02020603050405020304" pitchFamily="18" charset="0"/>
            </a:endParaRPr>
          </a:p>
        </p:txBody>
      </p:sp>
      <p:sp>
        <p:nvSpPr>
          <p:cNvPr id="5" name="Shape 3"/>
          <p:cNvSpPr/>
          <p:nvPr/>
        </p:nvSpPr>
        <p:spPr>
          <a:xfrm>
            <a:off x="548640" y="2148840"/>
            <a:ext cx="3520440" cy="3383280"/>
          </a:xfrm>
          <a:prstGeom prst="roundRect">
            <a:avLst>
              <a:gd name="adj" fmla="val 2162"/>
            </a:avLst>
          </a:prstGeom>
          <a:solidFill>
            <a:srgbClr val="F4F6FB"/>
          </a:solidFill>
          <a:ln/>
        </p:spPr>
      </p:sp>
      <p:sp>
        <p:nvSpPr>
          <p:cNvPr id="6" name="Shape 4"/>
          <p:cNvSpPr/>
          <p:nvPr/>
        </p:nvSpPr>
        <p:spPr>
          <a:xfrm>
            <a:off x="868680" y="2468880"/>
            <a:ext cx="502920" cy="82296"/>
          </a:xfrm>
          <a:prstGeom prst="rect">
            <a:avLst/>
          </a:prstGeom>
          <a:solidFill>
            <a:srgbClr val="1E2761"/>
          </a:solidFill>
          <a:ln/>
        </p:spPr>
      </p:sp>
      <p:sp>
        <p:nvSpPr>
          <p:cNvPr id="7" name="Text 5"/>
          <p:cNvSpPr/>
          <p:nvPr/>
        </p:nvSpPr>
        <p:spPr>
          <a:xfrm>
            <a:off x="822960" y="2606040"/>
            <a:ext cx="2971800" cy="457200"/>
          </a:xfrm>
          <a:prstGeom prst="rect">
            <a:avLst/>
          </a:prstGeom>
          <a:noFill/>
          <a:ln/>
        </p:spPr>
        <p:txBody>
          <a:bodyPr wrap="square" rtlCol="0" anchor="ctr"/>
          <a:lstStyle/>
          <a:p>
            <a:pPr marL="0" indent="0">
              <a:buNone/>
            </a:pPr>
            <a:r>
              <a:rPr lang="en-US" sz="1600" b="1" dirty="0">
                <a:solidFill>
                  <a:srgbClr val="1E2761"/>
                </a:solidFill>
                <a:latin typeface="Times New Roman" panose="02020603050405020304" pitchFamily="18" charset="0"/>
                <a:ea typeface="Cambria" pitchFamily="34" charset="-122"/>
                <a:cs typeface="Times New Roman" panose="02020603050405020304" pitchFamily="18" charset="0"/>
              </a:rPr>
              <a:t>Systematic Risk</a:t>
            </a:r>
            <a:endParaRPr lang="en-US" sz="1600" dirty="0">
              <a:latin typeface="Times New Roman" panose="02020603050405020304" pitchFamily="18" charset="0"/>
              <a:cs typeface="Times New Roman" panose="02020603050405020304" pitchFamily="18" charset="0"/>
            </a:endParaRPr>
          </a:p>
        </p:txBody>
      </p:sp>
      <p:sp>
        <p:nvSpPr>
          <p:cNvPr id="8" name="Text 6"/>
          <p:cNvSpPr/>
          <p:nvPr/>
        </p:nvSpPr>
        <p:spPr>
          <a:xfrm>
            <a:off x="822960" y="3108960"/>
            <a:ext cx="2971800" cy="2286000"/>
          </a:xfrm>
          <a:prstGeom prst="rect">
            <a:avLst/>
          </a:prstGeom>
          <a:noFill/>
          <a:ln/>
        </p:spPr>
        <p:txBody>
          <a:bodyPr wrap="square" rtlCol="0" anchor="t"/>
          <a:lstStyle/>
          <a:p>
            <a:pPr marL="0" indent="0">
              <a:buNone/>
            </a:pPr>
            <a:r>
              <a:rPr lang="en-US" sz="1200" dirty="0">
                <a:solidFill>
                  <a:srgbClr val="1B1B2F"/>
                </a:solidFill>
                <a:latin typeface="Times New Roman" panose="02020603050405020304" pitchFamily="18" charset="0"/>
                <a:ea typeface="Calibri" pitchFamily="34" charset="-122"/>
                <a:cs typeface="Times New Roman" panose="02020603050405020304" pitchFamily="18" charset="0"/>
              </a:rPr>
              <a:t>Market-wide and uncontrollable — inflation, interest rates, policy shifts, global events. Cannot be diversified away. Measured using Beta.</a:t>
            </a:r>
            <a:endParaRPr lang="en-US" sz="1200" dirty="0">
              <a:latin typeface="Times New Roman" panose="02020603050405020304" pitchFamily="18" charset="0"/>
              <a:cs typeface="Times New Roman" panose="02020603050405020304" pitchFamily="18" charset="0"/>
            </a:endParaRPr>
          </a:p>
        </p:txBody>
      </p:sp>
      <p:sp>
        <p:nvSpPr>
          <p:cNvPr id="9" name="Shape 7"/>
          <p:cNvSpPr/>
          <p:nvPr/>
        </p:nvSpPr>
        <p:spPr>
          <a:xfrm>
            <a:off x="4434840" y="2148840"/>
            <a:ext cx="3520440" cy="3383280"/>
          </a:xfrm>
          <a:prstGeom prst="roundRect">
            <a:avLst>
              <a:gd name="adj" fmla="val 2162"/>
            </a:avLst>
          </a:prstGeom>
          <a:solidFill>
            <a:srgbClr val="F4F6FB"/>
          </a:solidFill>
          <a:ln/>
        </p:spPr>
      </p:sp>
      <p:sp>
        <p:nvSpPr>
          <p:cNvPr id="10" name="Shape 8"/>
          <p:cNvSpPr/>
          <p:nvPr/>
        </p:nvSpPr>
        <p:spPr>
          <a:xfrm>
            <a:off x="4754880" y="2468880"/>
            <a:ext cx="502920" cy="82296"/>
          </a:xfrm>
          <a:prstGeom prst="rect">
            <a:avLst/>
          </a:prstGeom>
          <a:solidFill>
            <a:srgbClr val="D9A441"/>
          </a:solidFill>
          <a:ln/>
        </p:spPr>
      </p:sp>
      <p:sp>
        <p:nvSpPr>
          <p:cNvPr id="11" name="Text 9"/>
          <p:cNvSpPr/>
          <p:nvPr/>
        </p:nvSpPr>
        <p:spPr>
          <a:xfrm>
            <a:off x="4709160" y="2606040"/>
            <a:ext cx="2971800" cy="457200"/>
          </a:xfrm>
          <a:prstGeom prst="rect">
            <a:avLst/>
          </a:prstGeom>
          <a:noFill/>
          <a:ln/>
        </p:spPr>
        <p:txBody>
          <a:bodyPr wrap="square" rtlCol="0" anchor="ctr"/>
          <a:lstStyle/>
          <a:p>
            <a:pPr marL="0" indent="0">
              <a:buNone/>
            </a:pPr>
            <a:r>
              <a:rPr lang="en-US" sz="1600" b="1" dirty="0">
                <a:solidFill>
                  <a:srgbClr val="1E2761"/>
                </a:solidFill>
                <a:latin typeface="Times New Roman" panose="02020603050405020304" pitchFamily="18" charset="0"/>
                <a:ea typeface="Cambria" pitchFamily="34" charset="-122"/>
                <a:cs typeface="Times New Roman" panose="02020603050405020304" pitchFamily="18" charset="0"/>
              </a:rPr>
              <a:t>Unsystematic Risk</a:t>
            </a:r>
            <a:endParaRPr lang="en-US" sz="1600" dirty="0">
              <a:latin typeface="Times New Roman" panose="02020603050405020304" pitchFamily="18" charset="0"/>
              <a:cs typeface="Times New Roman" panose="02020603050405020304" pitchFamily="18" charset="0"/>
            </a:endParaRPr>
          </a:p>
        </p:txBody>
      </p:sp>
      <p:sp>
        <p:nvSpPr>
          <p:cNvPr id="12" name="Text 10"/>
          <p:cNvSpPr/>
          <p:nvPr/>
        </p:nvSpPr>
        <p:spPr>
          <a:xfrm>
            <a:off x="4709160" y="3108960"/>
            <a:ext cx="2971800" cy="2286000"/>
          </a:xfrm>
          <a:prstGeom prst="rect">
            <a:avLst/>
          </a:prstGeom>
          <a:noFill/>
          <a:ln/>
        </p:spPr>
        <p:txBody>
          <a:bodyPr wrap="square" rtlCol="0" anchor="t"/>
          <a:lstStyle/>
          <a:p>
            <a:pPr marL="0" indent="0">
              <a:buNone/>
            </a:pPr>
            <a:r>
              <a:rPr lang="en-US" sz="1200" dirty="0">
                <a:solidFill>
                  <a:srgbClr val="1B1B2F"/>
                </a:solidFill>
                <a:latin typeface="Times New Roman" panose="02020603050405020304" pitchFamily="18" charset="0"/>
                <a:ea typeface="Calibri" pitchFamily="34" charset="-122"/>
                <a:cs typeface="Times New Roman" panose="02020603050405020304" pitchFamily="18" charset="0"/>
              </a:rPr>
              <a:t>Company- or sector-specific — management decisions, competition, operational issues. Can be reduced through diversification.</a:t>
            </a:r>
            <a:endParaRPr lang="en-US" sz="1200" dirty="0">
              <a:latin typeface="Times New Roman" panose="02020603050405020304" pitchFamily="18" charset="0"/>
              <a:cs typeface="Times New Roman" panose="02020603050405020304" pitchFamily="18" charset="0"/>
            </a:endParaRPr>
          </a:p>
        </p:txBody>
      </p:sp>
      <p:sp>
        <p:nvSpPr>
          <p:cNvPr id="13" name="Shape 11"/>
          <p:cNvSpPr/>
          <p:nvPr/>
        </p:nvSpPr>
        <p:spPr>
          <a:xfrm>
            <a:off x="8321040" y="2148840"/>
            <a:ext cx="3520440" cy="3383280"/>
          </a:xfrm>
          <a:prstGeom prst="roundRect">
            <a:avLst>
              <a:gd name="adj" fmla="val 2162"/>
            </a:avLst>
          </a:prstGeom>
          <a:solidFill>
            <a:srgbClr val="F4F6FB"/>
          </a:solidFill>
          <a:ln/>
        </p:spPr>
      </p:sp>
      <p:sp>
        <p:nvSpPr>
          <p:cNvPr id="14" name="Shape 12"/>
          <p:cNvSpPr/>
          <p:nvPr/>
        </p:nvSpPr>
        <p:spPr>
          <a:xfrm>
            <a:off x="8641080" y="2468880"/>
            <a:ext cx="502920" cy="82296"/>
          </a:xfrm>
          <a:prstGeom prst="rect">
            <a:avLst/>
          </a:prstGeom>
          <a:solidFill>
            <a:srgbClr val="2E7D5B"/>
          </a:solidFill>
          <a:ln/>
        </p:spPr>
      </p:sp>
      <p:sp>
        <p:nvSpPr>
          <p:cNvPr id="15" name="Text 13"/>
          <p:cNvSpPr/>
          <p:nvPr/>
        </p:nvSpPr>
        <p:spPr>
          <a:xfrm>
            <a:off x="8595360" y="2606040"/>
            <a:ext cx="2971800" cy="457200"/>
          </a:xfrm>
          <a:prstGeom prst="rect">
            <a:avLst/>
          </a:prstGeom>
          <a:noFill/>
          <a:ln/>
        </p:spPr>
        <p:txBody>
          <a:bodyPr wrap="square" rtlCol="0" anchor="ctr"/>
          <a:lstStyle/>
          <a:p>
            <a:pPr marL="0" indent="0">
              <a:buNone/>
            </a:pPr>
            <a:r>
              <a:rPr lang="en-US" sz="1600" b="1" dirty="0">
                <a:solidFill>
                  <a:srgbClr val="1E2761"/>
                </a:solidFill>
                <a:latin typeface="Times New Roman" panose="02020603050405020304" pitchFamily="18" charset="0"/>
                <a:ea typeface="Cambria" pitchFamily="34" charset="-122"/>
                <a:cs typeface="Times New Roman" panose="02020603050405020304" pitchFamily="18" charset="0"/>
              </a:rPr>
              <a:t>Return Components</a:t>
            </a:r>
            <a:endParaRPr lang="en-US" sz="1600" dirty="0">
              <a:latin typeface="Times New Roman" panose="02020603050405020304" pitchFamily="18" charset="0"/>
              <a:cs typeface="Times New Roman" panose="02020603050405020304" pitchFamily="18" charset="0"/>
            </a:endParaRPr>
          </a:p>
        </p:txBody>
      </p:sp>
      <p:sp>
        <p:nvSpPr>
          <p:cNvPr id="16" name="Text 14"/>
          <p:cNvSpPr/>
          <p:nvPr/>
        </p:nvSpPr>
        <p:spPr>
          <a:xfrm>
            <a:off x="8595360" y="3108960"/>
            <a:ext cx="2971800" cy="2286000"/>
          </a:xfrm>
          <a:prstGeom prst="rect">
            <a:avLst/>
          </a:prstGeom>
          <a:noFill/>
          <a:ln/>
        </p:spPr>
        <p:txBody>
          <a:bodyPr wrap="square" rtlCol="0" anchor="t"/>
          <a:lstStyle/>
          <a:p>
            <a:pPr marL="0" indent="0">
              <a:buNone/>
            </a:pPr>
            <a:r>
              <a:rPr lang="en-US" sz="1200" dirty="0">
                <a:solidFill>
                  <a:srgbClr val="1B1B2F"/>
                </a:solidFill>
                <a:latin typeface="Times New Roman" panose="02020603050405020304" pitchFamily="18" charset="0"/>
                <a:ea typeface="Calibri" pitchFamily="34" charset="-122"/>
                <a:cs typeface="Times New Roman" panose="02020603050405020304" pitchFamily="18" charset="0"/>
              </a:rPr>
              <a:t>Combines capital appreciation (price gain) and dividend income. Evaluated using average return, expected return and realized return.</a:t>
            </a:r>
            <a:endParaRPr lang="en-US" sz="1200" dirty="0">
              <a:latin typeface="Times New Roman" panose="02020603050405020304" pitchFamily="18" charset="0"/>
              <a:cs typeface="Times New Roman" panose="02020603050405020304" pitchFamily="18" charset="0"/>
            </a:endParaRPr>
          </a:p>
        </p:txBody>
      </p:sp>
      <p:sp>
        <p:nvSpPr>
          <p:cNvPr id="17" name="Text 15"/>
          <p:cNvSpPr/>
          <p:nvPr/>
        </p:nvSpPr>
        <p:spPr>
          <a:xfrm>
            <a:off x="548640" y="5715000"/>
            <a:ext cx="11091672" cy="502920"/>
          </a:xfrm>
          <a:prstGeom prst="rect">
            <a:avLst/>
          </a:prstGeom>
          <a:noFill/>
          <a:ln/>
        </p:spPr>
        <p:txBody>
          <a:bodyPr wrap="square" rtlCol="0" anchor="ctr"/>
          <a:lstStyle/>
          <a:p>
            <a:pPr marL="0" indent="0">
              <a:buNone/>
            </a:pPr>
            <a:r>
              <a:rPr lang="en-US" sz="1200" i="1" dirty="0">
                <a:solidFill>
                  <a:srgbClr val="6B7280"/>
                </a:solidFill>
                <a:latin typeface="Times New Roman" panose="02020603050405020304" pitchFamily="18" charset="0"/>
                <a:ea typeface="Calibri" pitchFamily="34" charset="-122"/>
                <a:cs typeface="Times New Roman" panose="02020603050405020304" pitchFamily="18" charset="0"/>
              </a:rPr>
              <a:t>The risk–return trade-off is the foundation of portfolio management: investors decide how much uncertainty they will accept in pursuit of gains.</a:t>
            </a:r>
            <a:endParaRPr lang="en-US" sz="1200" dirty="0">
              <a:latin typeface="Times New Roman" panose="02020603050405020304" pitchFamily="18" charset="0"/>
              <a:cs typeface="Times New Roman" panose="02020603050405020304" pitchFamily="18" charset="0"/>
            </a:endParaRPr>
          </a:p>
        </p:txBody>
      </p:sp>
      <p:sp>
        <p:nvSpPr>
          <p:cNvPr id="18" name="Text 16"/>
          <p:cNvSpPr/>
          <p:nvPr/>
        </p:nvSpPr>
        <p:spPr>
          <a:xfrm>
            <a:off x="457200" y="6473952"/>
            <a:ext cx="7315200" cy="274320"/>
          </a:xfrm>
          <a:prstGeom prst="rect">
            <a:avLst/>
          </a:prstGeom>
          <a:noFill/>
          <a:ln/>
        </p:spPr>
        <p:txBody>
          <a:bodyPr wrap="square" rtlCol="0" anchor="ctr"/>
          <a:lstStyle/>
          <a:p>
            <a:pPr marL="0" indent="0">
              <a:buNone/>
            </a:pPr>
            <a:r>
              <a:rPr lang="en-US" sz="900" i="1" dirty="0">
                <a:solidFill>
                  <a:srgbClr val="6B7280"/>
                </a:solidFill>
                <a:latin typeface="Times New Roman" panose="02020603050405020304" pitchFamily="18" charset="0"/>
                <a:ea typeface="Calibri" pitchFamily="34" charset="-122"/>
                <a:cs typeface="Times New Roman" panose="02020603050405020304" pitchFamily="18" charset="0"/>
              </a:rPr>
              <a:t>Risk and Return Analysis in Equities  |  Ventura Securities Ltd</a:t>
            </a:r>
            <a:endParaRPr lang="en-US" sz="900" dirty="0">
              <a:latin typeface="Times New Roman" panose="02020603050405020304" pitchFamily="18" charset="0"/>
              <a:cs typeface="Times New Roman" panose="02020603050405020304" pitchFamily="18" charset="0"/>
            </a:endParaRPr>
          </a:p>
        </p:txBody>
      </p:sp>
      <p:sp>
        <p:nvSpPr>
          <p:cNvPr id="19" name="Text 17"/>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5486400" cy="274320"/>
          </a:xfrm>
          <a:prstGeom prst="rect">
            <a:avLst/>
          </a:prstGeom>
          <a:noFill/>
          <a:ln/>
        </p:spPr>
        <p:txBody>
          <a:bodyPr wrap="square" rtlCol="0" anchor="ctr"/>
          <a:lstStyle/>
          <a:p>
            <a:pPr marL="0" indent="0">
              <a:buNone/>
            </a:pPr>
            <a:r>
              <a:rPr lang="en-US" sz="1200" b="1" kern="0" spc="200" dirty="0">
                <a:solidFill>
                  <a:srgbClr val="D9A441"/>
                </a:solidFill>
                <a:latin typeface="Times New Roman" panose="02020603050405020304" pitchFamily="18" charset="0"/>
                <a:ea typeface="Calibri" pitchFamily="34" charset="-122"/>
                <a:cs typeface="Times New Roman" panose="02020603050405020304" pitchFamily="18" charset="0"/>
              </a:rPr>
              <a:t>CHAPTER 1 · INTRODUCTION</a:t>
            </a:r>
            <a:endParaRPr lang="en-US" sz="1200" dirty="0">
              <a:latin typeface="Times New Roman" panose="02020603050405020304" pitchFamily="18" charset="0"/>
              <a:cs typeface="Times New Roman" panose="02020603050405020304" pitchFamily="18" charset="0"/>
            </a:endParaRPr>
          </a:p>
        </p:txBody>
      </p:sp>
      <p:sp>
        <p:nvSpPr>
          <p:cNvPr id="3" name="Text 1"/>
          <p:cNvSpPr/>
          <p:nvPr/>
        </p:nvSpPr>
        <p:spPr>
          <a:xfrm>
            <a:off x="548640" y="365760"/>
            <a:ext cx="11091672" cy="731520"/>
          </a:xfrm>
          <a:prstGeom prst="rect">
            <a:avLst/>
          </a:prstGeom>
          <a:noFill/>
          <a:ln/>
        </p:spPr>
        <p:txBody>
          <a:bodyPr wrap="square" rtlCol="0" anchor="ctr"/>
          <a:lstStyle/>
          <a:p>
            <a:pPr marL="0" indent="0">
              <a:buNone/>
            </a:pPr>
            <a:r>
              <a:rPr lang="en-US" sz="3000" b="1" dirty="0">
                <a:solidFill>
                  <a:srgbClr val="1E2761"/>
                </a:solidFill>
                <a:latin typeface="Times New Roman" panose="02020603050405020304" pitchFamily="18" charset="0"/>
                <a:ea typeface="Cambria" pitchFamily="34" charset="-122"/>
                <a:cs typeface="Times New Roman" panose="02020603050405020304" pitchFamily="18" charset="0"/>
              </a:rPr>
              <a:t>Objectives of the Study</a:t>
            </a:r>
            <a:endParaRPr lang="en-US" sz="3000" dirty="0">
              <a:latin typeface="Times New Roman" panose="02020603050405020304" pitchFamily="18" charset="0"/>
              <a:cs typeface="Times New Roman" panose="02020603050405020304" pitchFamily="18" charset="0"/>
            </a:endParaRPr>
          </a:p>
        </p:txBody>
      </p:sp>
      <p:sp>
        <p:nvSpPr>
          <p:cNvPr id="4" name="Shape 2"/>
          <p:cNvSpPr/>
          <p:nvPr/>
        </p:nvSpPr>
        <p:spPr>
          <a:xfrm>
            <a:off x="548640" y="1508760"/>
            <a:ext cx="502920" cy="502920"/>
          </a:xfrm>
          <a:prstGeom prst="roundRect">
            <a:avLst>
              <a:gd name="adj" fmla="val 16364"/>
            </a:avLst>
          </a:prstGeom>
          <a:solidFill>
            <a:srgbClr val="1E2761"/>
          </a:solidFill>
          <a:ln/>
        </p:spPr>
      </p:sp>
      <p:sp>
        <p:nvSpPr>
          <p:cNvPr id="5" name="Text 3"/>
          <p:cNvSpPr/>
          <p:nvPr/>
        </p:nvSpPr>
        <p:spPr>
          <a:xfrm>
            <a:off x="548640" y="1508760"/>
            <a:ext cx="502920" cy="502920"/>
          </a:xfrm>
          <a:prstGeom prst="rect">
            <a:avLst/>
          </a:prstGeom>
          <a:noFill/>
          <a:ln/>
        </p:spPr>
        <p:txBody>
          <a:bodyPr wrap="square" rtlCol="0" anchor="ctr"/>
          <a:lstStyle/>
          <a:p>
            <a:pPr marL="0" indent="0" algn="ctr">
              <a:buNone/>
            </a:pPr>
            <a:r>
              <a:rPr lang="en-US" sz="1800" b="1" dirty="0">
                <a:solidFill>
                  <a:srgbClr val="FFFFFF"/>
                </a:solidFill>
                <a:latin typeface="Times New Roman" panose="02020603050405020304" pitchFamily="18" charset="0"/>
                <a:ea typeface="Cambria" pitchFamily="34" charset="-122"/>
                <a:cs typeface="Times New Roman" panose="02020603050405020304" pitchFamily="18" charset="0"/>
              </a:rPr>
              <a:t>1</a:t>
            </a:r>
            <a:endParaRPr lang="en-US" sz="1800" dirty="0">
              <a:latin typeface="Times New Roman" panose="02020603050405020304" pitchFamily="18" charset="0"/>
              <a:cs typeface="Times New Roman" panose="02020603050405020304" pitchFamily="18" charset="0"/>
            </a:endParaRPr>
          </a:p>
        </p:txBody>
      </p:sp>
      <p:sp>
        <p:nvSpPr>
          <p:cNvPr id="6" name="Text 4"/>
          <p:cNvSpPr/>
          <p:nvPr/>
        </p:nvSpPr>
        <p:spPr>
          <a:xfrm>
            <a:off x="1234440" y="1463040"/>
            <a:ext cx="10332720" cy="777240"/>
          </a:xfrm>
          <a:prstGeom prst="rect">
            <a:avLst/>
          </a:prstGeom>
          <a:noFill/>
          <a:ln/>
        </p:spPr>
        <p:txBody>
          <a:bodyPr wrap="square" rtlCol="0" anchor="ctr"/>
          <a:lstStyle/>
          <a:p>
            <a:pPr marL="0" indent="0">
              <a:buNone/>
            </a:pPr>
            <a:r>
              <a:rPr lang="en-US" sz="1400" dirty="0">
                <a:solidFill>
                  <a:srgbClr val="1B1B2F"/>
                </a:solidFill>
                <a:latin typeface="Times New Roman" panose="02020603050405020304" pitchFamily="18" charset="0"/>
                <a:ea typeface="Calibri" pitchFamily="34" charset="-122"/>
                <a:cs typeface="Times New Roman" panose="02020603050405020304" pitchFamily="18" charset="0"/>
              </a:rPr>
              <a:t>Measure the annual returns of TCS, ICICI Bank and Reliance Industries over five years (2021-26).</a:t>
            </a:r>
            <a:endParaRPr lang="en-US" sz="1400" dirty="0">
              <a:latin typeface="Times New Roman" panose="02020603050405020304" pitchFamily="18" charset="0"/>
              <a:cs typeface="Times New Roman" panose="02020603050405020304" pitchFamily="18" charset="0"/>
            </a:endParaRPr>
          </a:p>
        </p:txBody>
      </p:sp>
      <p:sp>
        <p:nvSpPr>
          <p:cNvPr id="7" name="Shape 5"/>
          <p:cNvSpPr/>
          <p:nvPr/>
        </p:nvSpPr>
        <p:spPr>
          <a:xfrm>
            <a:off x="548640" y="2441448"/>
            <a:ext cx="502920" cy="502920"/>
          </a:xfrm>
          <a:prstGeom prst="roundRect">
            <a:avLst>
              <a:gd name="adj" fmla="val 16364"/>
            </a:avLst>
          </a:prstGeom>
          <a:solidFill>
            <a:srgbClr val="1E2761"/>
          </a:solidFill>
          <a:ln/>
        </p:spPr>
      </p:sp>
      <p:sp>
        <p:nvSpPr>
          <p:cNvPr id="8" name="Text 6"/>
          <p:cNvSpPr/>
          <p:nvPr/>
        </p:nvSpPr>
        <p:spPr>
          <a:xfrm>
            <a:off x="548640" y="2441448"/>
            <a:ext cx="502920" cy="502920"/>
          </a:xfrm>
          <a:prstGeom prst="rect">
            <a:avLst/>
          </a:prstGeom>
          <a:noFill/>
          <a:ln/>
        </p:spPr>
        <p:txBody>
          <a:bodyPr wrap="square" rtlCol="0" anchor="ctr"/>
          <a:lstStyle/>
          <a:p>
            <a:pPr marL="0" indent="0" algn="ctr">
              <a:buNone/>
            </a:pPr>
            <a:r>
              <a:rPr lang="en-US" sz="1800" b="1" dirty="0">
                <a:solidFill>
                  <a:srgbClr val="FFFFFF"/>
                </a:solidFill>
                <a:latin typeface="Times New Roman" panose="02020603050405020304" pitchFamily="18" charset="0"/>
                <a:ea typeface="Cambria" pitchFamily="34" charset="-122"/>
                <a:cs typeface="Times New Roman" panose="02020603050405020304" pitchFamily="18" charset="0"/>
              </a:rPr>
              <a:t>2</a:t>
            </a:r>
            <a:endParaRPr lang="en-US" sz="1800" dirty="0">
              <a:latin typeface="Times New Roman" panose="02020603050405020304" pitchFamily="18" charset="0"/>
              <a:cs typeface="Times New Roman" panose="02020603050405020304" pitchFamily="18" charset="0"/>
            </a:endParaRPr>
          </a:p>
        </p:txBody>
      </p:sp>
      <p:sp>
        <p:nvSpPr>
          <p:cNvPr id="9" name="Text 7"/>
          <p:cNvSpPr/>
          <p:nvPr/>
        </p:nvSpPr>
        <p:spPr>
          <a:xfrm>
            <a:off x="1234440" y="2395728"/>
            <a:ext cx="10332720" cy="777240"/>
          </a:xfrm>
          <a:prstGeom prst="rect">
            <a:avLst/>
          </a:prstGeom>
          <a:noFill/>
          <a:ln/>
        </p:spPr>
        <p:txBody>
          <a:bodyPr wrap="square" rtlCol="0" anchor="ctr"/>
          <a:lstStyle/>
          <a:p>
            <a:pPr marL="0" indent="0">
              <a:buNone/>
            </a:pPr>
            <a:r>
              <a:rPr lang="en-US" sz="1400" dirty="0">
                <a:solidFill>
                  <a:srgbClr val="1B1B2F"/>
                </a:solidFill>
                <a:latin typeface="Times New Roman" panose="02020603050405020304" pitchFamily="18" charset="0"/>
                <a:ea typeface="Calibri" pitchFamily="34" charset="-122"/>
                <a:cs typeface="Times New Roman" panose="02020603050405020304" pitchFamily="18" charset="0"/>
              </a:rPr>
              <a:t>Calculate the level of risk for each stock using variance and standard deviation.</a:t>
            </a:r>
            <a:endParaRPr lang="en-US" sz="1400" dirty="0">
              <a:latin typeface="Times New Roman" panose="02020603050405020304" pitchFamily="18" charset="0"/>
              <a:cs typeface="Times New Roman" panose="02020603050405020304" pitchFamily="18" charset="0"/>
            </a:endParaRPr>
          </a:p>
        </p:txBody>
      </p:sp>
      <p:sp>
        <p:nvSpPr>
          <p:cNvPr id="10" name="Shape 8"/>
          <p:cNvSpPr/>
          <p:nvPr/>
        </p:nvSpPr>
        <p:spPr>
          <a:xfrm>
            <a:off x="548640" y="3374136"/>
            <a:ext cx="502920" cy="502920"/>
          </a:xfrm>
          <a:prstGeom prst="roundRect">
            <a:avLst>
              <a:gd name="adj" fmla="val 16364"/>
            </a:avLst>
          </a:prstGeom>
          <a:solidFill>
            <a:srgbClr val="1E2761"/>
          </a:solidFill>
          <a:ln/>
        </p:spPr>
      </p:sp>
      <p:sp>
        <p:nvSpPr>
          <p:cNvPr id="11" name="Text 9"/>
          <p:cNvSpPr/>
          <p:nvPr/>
        </p:nvSpPr>
        <p:spPr>
          <a:xfrm>
            <a:off x="548640" y="3374136"/>
            <a:ext cx="502920" cy="502920"/>
          </a:xfrm>
          <a:prstGeom prst="rect">
            <a:avLst/>
          </a:prstGeom>
          <a:noFill/>
          <a:ln/>
        </p:spPr>
        <p:txBody>
          <a:bodyPr wrap="square" rtlCol="0" anchor="ctr"/>
          <a:lstStyle/>
          <a:p>
            <a:pPr marL="0" indent="0" algn="ctr">
              <a:buNone/>
            </a:pPr>
            <a:r>
              <a:rPr lang="en-US" sz="1800" b="1" dirty="0">
                <a:solidFill>
                  <a:srgbClr val="FFFFFF"/>
                </a:solidFill>
                <a:latin typeface="Times New Roman" panose="02020603050405020304" pitchFamily="18" charset="0"/>
                <a:ea typeface="Cambria" pitchFamily="34" charset="-122"/>
                <a:cs typeface="Times New Roman" panose="02020603050405020304" pitchFamily="18" charset="0"/>
              </a:rPr>
              <a:t>3</a:t>
            </a:r>
            <a:endParaRPr lang="en-US" sz="1800" dirty="0">
              <a:latin typeface="Times New Roman" panose="02020603050405020304" pitchFamily="18" charset="0"/>
              <a:cs typeface="Times New Roman" panose="02020603050405020304" pitchFamily="18" charset="0"/>
            </a:endParaRPr>
          </a:p>
        </p:txBody>
      </p:sp>
      <p:sp>
        <p:nvSpPr>
          <p:cNvPr id="12" name="Text 10"/>
          <p:cNvSpPr/>
          <p:nvPr/>
        </p:nvSpPr>
        <p:spPr>
          <a:xfrm>
            <a:off x="1234440" y="3328416"/>
            <a:ext cx="10332720" cy="777240"/>
          </a:xfrm>
          <a:prstGeom prst="rect">
            <a:avLst/>
          </a:prstGeom>
          <a:noFill/>
          <a:ln/>
        </p:spPr>
        <p:txBody>
          <a:bodyPr wrap="square" rtlCol="0" anchor="ctr"/>
          <a:lstStyle/>
          <a:p>
            <a:pPr marL="0" indent="0">
              <a:buNone/>
            </a:pPr>
            <a:r>
              <a:rPr lang="en-US" sz="1400" dirty="0">
                <a:solidFill>
                  <a:srgbClr val="1B1B2F"/>
                </a:solidFill>
                <a:latin typeface="Times New Roman" panose="02020603050405020304" pitchFamily="18" charset="0"/>
                <a:ea typeface="Calibri" pitchFamily="34" charset="-122"/>
                <a:cs typeface="Times New Roman" panose="02020603050405020304" pitchFamily="18" charset="0"/>
              </a:rPr>
              <a:t>Compare the performance of the three companies in terms of profitability and volatility.</a:t>
            </a:r>
            <a:endParaRPr lang="en-US" sz="1400" dirty="0">
              <a:latin typeface="Times New Roman" panose="02020603050405020304" pitchFamily="18" charset="0"/>
              <a:cs typeface="Times New Roman" panose="02020603050405020304" pitchFamily="18" charset="0"/>
            </a:endParaRPr>
          </a:p>
        </p:txBody>
      </p:sp>
      <p:sp>
        <p:nvSpPr>
          <p:cNvPr id="13" name="Shape 11"/>
          <p:cNvSpPr/>
          <p:nvPr/>
        </p:nvSpPr>
        <p:spPr>
          <a:xfrm>
            <a:off x="548640" y="4306824"/>
            <a:ext cx="502920" cy="502920"/>
          </a:xfrm>
          <a:prstGeom prst="roundRect">
            <a:avLst>
              <a:gd name="adj" fmla="val 16364"/>
            </a:avLst>
          </a:prstGeom>
          <a:solidFill>
            <a:srgbClr val="1E2761"/>
          </a:solidFill>
          <a:ln/>
        </p:spPr>
      </p:sp>
      <p:sp>
        <p:nvSpPr>
          <p:cNvPr id="14" name="Text 12"/>
          <p:cNvSpPr/>
          <p:nvPr/>
        </p:nvSpPr>
        <p:spPr>
          <a:xfrm>
            <a:off x="548640" y="4306824"/>
            <a:ext cx="502920" cy="502920"/>
          </a:xfrm>
          <a:prstGeom prst="rect">
            <a:avLst/>
          </a:prstGeom>
          <a:noFill/>
          <a:ln/>
        </p:spPr>
        <p:txBody>
          <a:bodyPr wrap="square" rtlCol="0" anchor="ctr"/>
          <a:lstStyle/>
          <a:p>
            <a:pPr marL="0" indent="0" algn="ctr">
              <a:buNone/>
            </a:pPr>
            <a:r>
              <a:rPr lang="en-US" sz="1800" b="1" dirty="0">
                <a:solidFill>
                  <a:srgbClr val="FFFFFF"/>
                </a:solidFill>
                <a:latin typeface="Times New Roman" panose="02020603050405020304" pitchFamily="18" charset="0"/>
                <a:ea typeface="Cambria" pitchFamily="34" charset="-122"/>
                <a:cs typeface="Times New Roman" panose="02020603050405020304" pitchFamily="18" charset="0"/>
              </a:rPr>
              <a:t>4</a:t>
            </a:r>
            <a:endParaRPr lang="en-US" sz="1800" dirty="0">
              <a:latin typeface="Times New Roman" panose="02020603050405020304" pitchFamily="18" charset="0"/>
              <a:cs typeface="Times New Roman" panose="02020603050405020304" pitchFamily="18" charset="0"/>
            </a:endParaRPr>
          </a:p>
        </p:txBody>
      </p:sp>
      <p:sp>
        <p:nvSpPr>
          <p:cNvPr id="15" name="Text 13"/>
          <p:cNvSpPr/>
          <p:nvPr/>
        </p:nvSpPr>
        <p:spPr>
          <a:xfrm>
            <a:off x="1234440" y="4261104"/>
            <a:ext cx="10332720" cy="777240"/>
          </a:xfrm>
          <a:prstGeom prst="rect">
            <a:avLst/>
          </a:prstGeom>
          <a:noFill/>
          <a:ln/>
        </p:spPr>
        <p:txBody>
          <a:bodyPr wrap="square" rtlCol="0" anchor="ctr"/>
          <a:lstStyle/>
          <a:p>
            <a:pPr marL="0" indent="0">
              <a:buNone/>
            </a:pPr>
            <a:r>
              <a:rPr lang="en-US" sz="1400" dirty="0">
                <a:solidFill>
                  <a:srgbClr val="1B1B2F"/>
                </a:solidFill>
                <a:latin typeface="Times New Roman" panose="02020603050405020304" pitchFamily="18" charset="0"/>
                <a:ea typeface="Calibri" pitchFamily="34" charset="-122"/>
                <a:cs typeface="Times New Roman" panose="02020603050405020304" pitchFamily="18" charset="0"/>
              </a:rPr>
              <a:t>Examine sensitivity of each stock to overall market changes through Beta analysis.</a:t>
            </a:r>
            <a:endParaRPr lang="en-US" sz="1400" dirty="0">
              <a:latin typeface="Times New Roman" panose="02020603050405020304" pitchFamily="18" charset="0"/>
              <a:cs typeface="Times New Roman" panose="02020603050405020304" pitchFamily="18" charset="0"/>
            </a:endParaRPr>
          </a:p>
        </p:txBody>
      </p:sp>
      <p:sp>
        <p:nvSpPr>
          <p:cNvPr id="16" name="Shape 14"/>
          <p:cNvSpPr/>
          <p:nvPr/>
        </p:nvSpPr>
        <p:spPr>
          <a:xfrm>
            <a:off x="548640" y="5239512"/>
            <a:ext cx="502920" cy="502920"/>
          </a:xfrm>
          <a:prstGeom prst="roundRect">
            <a:avLst>
              <a:gd name="adj" fmla="val 16364"/>
            </a:avLst>
          </a:prstGeom>
          <a:solidFill>
            <a:srgbClr val="1E2761"/>
          </a:solidFill>
          <a:ln/>
        </p:spPr>
      </p:sp>
      <p:sp>
        <p:nvSpPr>
          <p:cNvPr id="17" name="Text 15"/>
          <p:cNvSpPr/>
          <p:nvPr/>
        </p:nvSpPr>
        <p:spPr>
          <a:xfrm>
            <a:off x="548640" y="5239512"/>
            <a:ext cx="502920" cy="502920"/>
          </a:xfrm>
          <a:prstGeom prst="rect">
            <a:avLst/>
          </a:prstGeom>
          <a:noFill/>
          <a:ln/>
        </p:spPr>
        <p:txBody>
          <a:bodyPr wrap="square" rtlCol="0" anchor="ctr"/>
          <a:lstStyle/>
          <a:p>
            <a:pPr marL="0" indent="0" algn="ctr">
              <a:buNone/>
            </a:pPr>
            <a:r>
              <a:rPr lang="en-US" sz="1800" b="1" dirty="0">
                <a:solidFill>
                  <a:srgbClr val="FFFFFF"/>
                </a:solidFill>
                <a:latin typeface="Times New Roman" panose="02020603050405020304" pitchFamily="18" charset="0"/>
                <a:ea typeface="Cambria" pitchFamily="34" charset="-122"/>
                <a:cs typeface="Times New Roman" panose="02020603050405020304" pitchFamily="18" charset="0"/>
              </a:rPr>
              <a:t>5</a:t>
            </a:r>
            <a:endParaRPr lang="en-US" sz="1800" dirty="0">
              <a:latin typeface="Times New Roman" panose="02020603050405020304" pitchFamily="18" charset="0"/>
              <a:cs typeface="Times New Roman" panose="02020603050405020304" pitchFamily="18" charset="0"/>
            </a:endParaRPr>
          </a:p>
        </p:txBody>
      </p:sp>
      <p:sp>
        <p:nvSpPr>
          <p:cNvPr id="18" name="Text 16"/>
          <p:cNvSpPr/>
          <p:nvPr/>
        </p:nvSpPr>
        <p:spPr>
          <a:xfrm>
            <a:off x="1234440" y="5193792"/>
            <a:ext cx="10332720" cy="777240"/>
          </a:xfrm>
          <a:prstGeom prst="rect">
            <a:avLst/>
          </a:prstGeom>
          <a:noFill/>
          <a:ln/>
        </p:spPr>
        <p:txBody>
          <a:bodyPr wrap="square" rtlCol="0" anchor="ctr"/>
          <a:lstStyle/>
          <a:p>
            <a:pPr marL="0" indent="0">
              <a:buNone/>
            </a:pPr>
            <a:r>
              <a:rPr lang="en-US" sz="1400" dirty="0">
                <a:solidFill>
                  <a:srgbClr val="1B1B2F"/>
                </a:solidFill>
                <a:latin typeface="Times New Roman" panose="02020603050405020304" pitchFamily="18" charset="0"/>
                <a:ea typeface="Calibri" pitchFamily="34" charset="-122"/>
                <a:cs typeface="Times New Roman" panose="02020603050405020304" pitchFamily="18" charset="0"/>
              </a:rPr>
              <a:t>Evaluate financial performance using EPS, ROE, P/E, Debt-Equity and Sharpe Ratio.</a:t>
            </a:r>
            <a:endParaRPr lang="en-US" sz="1400" dirty="0">
              <a:latin typeface="Times New Roman" panose="02020603050405020304" pitchFamily="18" charset="0"/>
              <a:cs typeface="Times New Roman" panose="02020603050405020304" pitchFamily="18" charset="0"/>
            </a:endParaRPr>
          </a:p>
        </p:txBody>
      </p:sp>
      <p:sp>
        <p:nvSpPr>
          <p:cNvPr id="19" name="Text 17"/>
          <p:cNvSpPr/>
          <p:nvPr/>
        </p:nvSpPr>
        <p:spPr>
          <a:xfrm>
            <a:off x="457200" y="6473952"/>
            <a:ext cx="7315200" cy="274320"/>
          </a:xfrm>
          <a:prstGeom prst="rect">
            <a:avLst/>
          </a:prstGeom>
          <a:noFill/>
          <a:ln/>
        </p:spPr>
        <p:txBody>
          <a:bodyPr wrap="square" rtlCol="0" anchor="ctr"/>
          <a:lstStyle/>
          <a:p>
            <a:pPr marL="0" indent="0">
              <a:buNone/>
            </a:pPr>
            <a:r>
              <a:rPr lang="en-US" sz="900" i="1" dirty="0">
                <a:solidFill>
                  <a:srgbClr val="6B7280"/>
                </a:solidFill>
                <a:latin typeface="Times New Roman" panose="02020603050405020304" pitchFamily="18" charset="0"/>
                <a:ea typeface="Calibri" pitchFamily="34" charset="-122"/>
                <a:cs typeface="Times New Roman" panose="02020603050405020304" pitchFamily="18" charset="0"/>
              </a:rPr>
              <a:t>Risk and Return Analysis in Equities  |  Ventura Securities Ltd</a:t>
            </a:r>
            <a:endParaRPr lang="en-US" sz="900" dirty="0">
              <a:latin typeface="Times New Roman" panose="02020603050405020304" pitchFamily="18" charset="0"/>
              <a:cs typeface="Times New Roman" panose="02020603050405020304" pitchFamily="18" charset="0"/>
            </a:endParaRPr>
          </a:p>
        </p:txBody>
      </p:sp>
      <p:sp>
        <p:nvSpPr>
          <p:cNvPr id="20" name="Text 18"/>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Times New Roman" panose="02020603050405020304" pitchFamily="18" charset="0"/>
                <a:ea typeface="Calibri" pitchFamily="34" charset="-122"/>
                <a:cs typeface="Times New Roman" panose="02020603050405020304" pitchFamily="18" charset="0"/>
              </a:rPr>
              <a:t>4</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5486400" cy="274320"/>
          </a:xfrm>
          <a:prstGeom prst="rect">
            <a:avLst/>
          </a:prstGeom>
          <a:noFill/>
          <a:ln/>
        </p:spPr>
        <p:txBody>
          <a:bodyPr wrap="square"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CHAPTER 1 · INTRODUCTION</a:t>
            </a:r>
            <a:endParaRPr lang="en-US" sz="1200" dirty="0"/>
          </a:p>
        </p:txBody>
      </p:sp>
      <p:sp>
        <p:nvSpPr>
          <p:cNvPr id="3" name="Text 1"/>
          <p:cNvSpPr/>
          <p:nvPr/>
        </p:nvSpPr>
        <p:spPr>
          <a:xfrm>
            <a:off x="548640" y="365760"/>
            <a:ext cx="11091672" cy="7315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Research Methodology</a:t>
            </a:r>
            <a:endParaRPr lang="en-US" sz="3000" dirty="0"/>
          </a:p>
        </p:txBody>
      </p:sp>
      <p:sp>
        <p:nvSpPr>
          <p:cNvPr id="4" name="Shape 2"/>
          <p:cNvSpPr/>
          <p:nvPr/>
        </p:nvSpPr>
        <p:spPr>
          <a:xfrm>
            <a:off x="548640" y="1371600"/>
            <a:ext cx="5212080" cy="4754880"/>
          </a:xfrm>
          <a:prstGeom prst="roundRect">
            <a:avLst>
              <a:gd name="adj" fmla="val 1538"/>
            </a:avLst>
          </a:prstGeom>
          <a:solidFill>
            <a:srgbClr val="F4F6FB"/>
          </a:solidFill>
          <a:ln/>
        </p:spPr>
      </p:sp>
      <p:sp>
        <p:nvSpPr>
          <p:cNvPr id="5" name="Text 3"/>
          <p:cNvSpPr/>
          <p:nvPr/>
        </p:nvSpPr>
        <p:spPr>
          <a:xfrm>
            <a:off x="868680" y="1600200"/>
            <a:ext cx="4572000" cy="36576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Study Design</a:t>
            </a:r>
            <a:endParaRPr lang="en-US" sz="1600" dirty="0"/>
          </a:p>
        </p:txBody>
      </p:sp>
      <p:sp>
        <p:nvSpPr>
          <p:cNvPr id="6" name="Text 4"/>
          <p:cNvSpPr/>
          <p:nvPr/>
        </p:nvSpPr>
        <p:spPr>
          <a:xfrm>
            <a:off x="868680" y="2103120"/>
            <a:ext cx="1463040" cy="45720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Approach:</a:t>
            </a:r>
            <a:endParaRPr lang="en-US" sz="1200" dirty="0"/>
          </a:p>
        </p:txBody>
      </p:sp>
      <p:sp>
        <p:nvSpPr>
          <p:cNvPr id="7" name="Text 5"/>
          <p:cNvSpPr/>
          <p:nvPr/>
        </p:nvSpPr>
        <p:spPr>
          <a:xfrm>
            <a:off x="2331720" y="2103120"/>
            <a:ext cx="3291840" cy="457200"/>
          </a:xfrm>
          <a:prstGeom prst="rect">
            <a:avLst/>
          </a:prstGeom>
          <a:noFill/>
          <a:ln/>
        </p:spPr>
        <p:txBody>
          <a:bodyPr wrap="square" rtlCol="0" anchor="ctr"/>
          <a:lstStyle/>
          <a:p>
            <a:pPr marL="0" indent="0">
              <a:buNone/>
            </a:pPr>
            <a:r>
              <a:rPr lang="en-US" sz="1200" dirty="0">
                <a:solidFill>
                  <a:srgbClr val="1B1B2F"/>
                </a:solidFill>
                <a:latin typeface="Calibri" pitchFamily="34" charset="0"/>
                <a:ea typeface="Calibri" pitchFamily="34" charset="-122"/>
                <a:cs typeface="Calibri" pitchFamily="34" charset="-120"/>
              </a:rPr>
              <a:t>Descriptive and analytical, based on secondary data</a:t>
            </a:r>
            <a:endParaRPr lang="en-US" sz="1200" dirty="0"/>
          </a:p>
        </p:txBody>
      </p:sp>
      <p:sp>
        <p:nvSpPr>
          <p:cNvPr id="8" name="Text 6"/>
          <p:cNvSpPr/>
          <p:nvPr/>
        </p:nvSpPr>
        <p:spPr>
          <a:xfrm>
            <a:off x="868680" y="2761488"/>
            <a:ext cx="1463040" cy="45720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Data Sources:</a:t>
            </a:r>
            <a:endParaRPr lang="en-US" sz="1200" dirty="0"/>
          </a:p>
        </p:txBody>
      </p:sp>
      <p:sp>
        <p:nvSpPr>
          <p:cNvPr id="9" name="Text 7"/>
          <p:cNvSpPr/>
          <p:nvPr/>
        </p:nvSpPr>
        <p:spPr>
          <a:xfrm>
            <a:off x="2331720" y="2761488"/>
            <a:ext cx="3291840" cy="457200"/>
          </a:xfrm>
          <a:prstGeom prst="rect">
            <a:avLst/>
          </a:prstGeom>
          <a:noFill/>
          <a:ln/>
        </p:spPr>
        <p:txBody>
          <a:bodyPr wrap="square" rtlCol="0" anchor="ctr"/>
          <a:lstStyle/>
          <a:p>
            <a:pPr marL="0" indent="0">
              <a:buNone/>
            </a:pPr>
            <a:r>
              <a:rPr lang="en-US" sz="1200" dirty="0">
                <a:solidFill>
                  <a:srgbClr val="1B1B2F"/>
                </a:solidFill>
                <a:latin typeface="Calibri" pitchFamily="34" charset="0"/>
                <a:ea typeface="Calibri" pitchFamily="34" charset="-122"/>
                <a:cs typeface="Calibri" pitchFamily="34" charset="-120"/>
              </a:rPr>
              <a:t>Yahoo Finance, NSE India, company annual reports</a:t>
            </a:r>
            <a:endParaRPr lang="en-US" sz="1200" dirty="0"/>
          </a:p>
        </p:txBody>
      </p:sp>
      <p:sp>
        <p:nvSpPr>
          <p:cNvPr id="10" name="Text 8"/>
          <p:cNvSpPr/>
          <p:nvPr/>
        </p:nvSpPr>
        <p:spPr>
          <a:xfrm>
            <a:off x="868680" y="3419856"/>
            <a:ext cx="1463040" cy="45720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Study Period:</a:t>
            </a:r>
            <a:endParaRPr lang="en-US" sz="1200" dirty="0"/>
          </a:p>
        </p:txBody>
      </p:sp>
      <p:sp>
        <p:nvSpPr>
          <p:cNvPr id="11" name="Text 9"/>
          <p:cNvSpPr/>
          <p:nvPr/>
        </p:nvSpPr>
        <p:spPr>
          <a:xfrm>
            <a:off x="2331720" y="3419856"/>
            <a:ext cx="3291840" cy="457200"/>
          </a:xfrm>
          <a:prstGeom prst="rect">
            <a:avLst/>
          </a:prstGeom>
          <a:noFill/>
          <a:ln/>
        </p:spPr>
        <p:txBody>
          <a:bodyPr wrap="square" rtlCol="0" anchor="ctr"/>
          <a:lstStyle/>
          <a:p>
            <a:pPr marL="0" indent="0">
              <a:buNone/>
            </a:pPr>
            <a:r>
              <a:rPr lang="en-US" sz="1200" dirty="0">
                <a:solidFill>
                  <a:srgbClr val="1B1B2F"/>
                </a:solidFill>
                <a:latin typeface="Calibri" pitchFamily="34" charset="0"/>
                <a:ea typeface="Calibri" pitchFamily="34" charset="-122"/>
                <a:cs typeface="Calibri" pitchFamily="34" charset="-120"/>
              </a:rPr>
              <a:t>April 2021 – March 2026 (5 financial years)</a:t>
            </a:r>
            <a:endParaRPr lang="en-US" sz="1200" dirty="0"/>
          </a:p>
        </p:txBody>
      </p:sp>
      <p:sp>
        <p:nvSpPr>
          <p:cNvPr id="12" name="Text 10"/>
          <p:cNvSpPr/>
          <p:nvPr/>
        </p:nvSpPr>
        <p:spPr>
          <a:xfrm>
            <a:off x="868680" y="4078224"/>
            <a:ext cx="1463040" cy="45720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Companies:</a:t>
            </a:r>
            <a:endParaRPr lang="en-US" sz="1200" dirty="0"/>
          </a:p>
        </p:txBody>
      </p:sp>
      <p:sp>
        <p:nvSpPr>
          <p:cNvPr id="13" name="Text 11"/>
          <p:cNvSpPr/>
          <p:nvPr/>
        </p:nvSpPr>
        <p:spPr>
          <a:xfrm>
            <a:off x="2331720" y="4078224"/>
            <a:ext cx="3291840" cy="457200"/>
          </a:xfrm>
          <a:prstGeom prst="rect">
            <a:avLst/>
          </a:prstGeom>
          <a:noFill/>
          <a:ln/>
        </p:spPr>
        <p:txBody>
          <a:bodyPr wrap="square" rtlCol="0" anchor="ctr"/>
          <a:lstStyle/>
          <a:p>
            <a:pPr marL="0" indent="0">
              <a:buNone/>
            </a:pPr>
            <a:r>
              <a:rPr lang="en-US" sz="1200" dirty="0">
                <a:solidFill>
                  <a:srgbClr val="1B1B2F"/>
                </a:solidFill>
                <a:latin typeface="Calibri" pitchFamily="34" charset="0"/>
                <a:ea typeface="Calibri" pitchFamily="34" charset="-122"/>
                <a:cs typeface="Calibri" pitchFamily="34" charset="-120"/>
              </a:rPr>
              <a:t>TCS, ICICI Bank Ltd, Reliance Industries Ltd</a:t>
            </a:r>
            <a:endParaRPr lang="en-US" sz="1200" dirty="0"/>
          </a:p>
        </p:txBody>
      </p:sp>
      <p:sp>
        <p:nvSpPr>
          <p:cNvPr id="14" name="Text 12"/>
          <p:cNvSpPr/>
          <p:nvPr/>
        </p:nvSpPr>
        <p:spPr>
          <a:xfrm>
            <a:off x="868680" y="4736592"/>
            <a:ext cx="1463040" cy="45720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Benchmark:</a:t>
            </a:r>
            <a:endParaRPr lang="en-US" sz="1200" dirty="0"/>
          </a:p>
        </p:txBody>
      </p:sp>
      <p:sp>
        <p:nvSpPr>
          <p:cNvPr id="15" name="Text 13"/>
          <p:cNvSpPr/>
          <p:nvPr/>
        </p:nvSpPr>
        <p:spPr>
          <a:xfrm>
            <a:off x="2331720" y="4736592"/>
            <a:ext cx="3291840" cy="457200"/>
          </a:xfrm>
          <a:prstGeom prst="rect">
            <a:avLst/>
          </a:prstGeom>
          <a:noFill/>
          <a:ln/>
        </p:spPr>
        <p:txBody>
          <a:bodyPr wrap="square" rtlCol="0" anchor="ctr"/>
          <a:lstStyle/>
          <a:p>
            <a:pPr marL="0" indent="0">
              <a:buNone/>
            </a:pPr>
            <a:r>
              <a:rPr lang="en-US" sz="1200" dirty="0">
                <a:solidFill>
                  <a:srgbClr val="1B1B2F"/>
                </a:solidFill>
                <a:latin typeface="Calibri" pitchFamily="34" charset="0"/>
                <a:ea typeface="Calibri" pitchFamily="34" charset="-122"/>
                <a:cs typeface="Calibri" pitchFamily="34" charset="-120"/>
              </a:rPr>
              <a:t>Nifty 50 index for beta computation</a:t>
            </a:r>
            <a:endParaRPr lang="en-US" sz="1200" dirty="0"/>
          </a:p>
        </p:txBody>
      </p:sp>
      <p:sp>
        <p:nvSpPr>
          <p:cNvPr id="16" name="Shape 14"/>
          <p:cNvSpPr/>
          <p:nvPr/>
        </p:nvSpPr>
        <p:spPr>
          <a:xfrm>
            <a:off x="5989320" y="1371600"/>
            <a:ext cx="5623560" cy="4754880"/>
          </a:xfrm>
          <a:prstGeom prst="roundRect">
            <a:avLst>
              <a:gd name="adj" fmla="val 1538"/>
            </a:avLst>
          </a:prstGeom>
          <a:solidFill>
            <a:srgbClr val="1E2761"/>
          </a:solidFill>
          <a:ln/>
        </p:spPr>
      </p:sp>
      <p:sp>
        <p:nvSpPr>
          <p:cNvPr id="17" name="Text 15"/>
          <p:cNvSpPr/>
          <p:nvPr/>
        </p:nvSpPr>
        <p:spPr>
          <a:xfrm>
            <a:off x="6309360" y="1600200"/>
            <a:ext cx="5029200" cy="36576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Key Formulae Used</a:t>
            </a:r>
            <a:endParaRPr lang="en-US" sz="1600" dirty="0"/>
          </a:p>
        </p:txBody>
      </p:sp>
      <p:sp>
        <p:nvSpPr>
          <p:cNvPr id="18" name="Text 16"/>
          <p:cNvSpPr/>
          <p:nvPr/>
        </p:nvSpPr>
        <p:spPr>
          <a:xfrm>
            <a:off x="6309360" y="2103120"/>
            <a:ext cx="1828800" cy="365760"/>
          </a:xfrm>
          <a:prstGeom prst="rect">
            <a:avLst/>
          </a:prstGeom>
          <a:noFill/>
          <a:ln/>
        </p:spPr>
        <p:txBody>
          <a:bodyPr wrap="square" rtlCol="0" anchor="ctr"/>
          <a:lstStyle/>
          <a:p>
            <a:pPr marL="0" indent="0">
              <a:buNone/>
            </a:pPr>
            <a:r>
              <a:rPr lang="en-US" sz="1200" b="1" dirty="0">
                <a:solidFill>
                  <a:srgbClr val="D9A441"/>
                </a:solidFill>
                <a:latin typeface="Calibri" pitchFamily="34" charset="0"/>
                <a:ea typeface="Calibri" pitchFamily="34" charset="-122"/>
                <a:cs typeface="Calibri" pitchFamily="34" charset="-120"/>
              </a:rPr>
              <a:t>Return</a:t>
            </a:r>
            <a:endParaRPr lang="en-US" sz="1200" dirty="0"/>
          </a:p>
        </p:txBody>
      </p:sp>
      <p:sp>
        <p:nvSpPr>
          <p:cNvPr id="19" name="Text 17"/>
          <p:cNvSpPr/>
          <p:nvPr/>
        </p:nvSpPr>
        <p:spPr>
          <a:xfrm>
            <a:off x="8138160" y="2103120"/>
            <a:ext cx="3383280" cy="365760"/>
          </a:xfrm>
          <a:prstGeom prst="rect">
            <a:avLst/>
          </a:prstGeom>
          <a:noFill/>
          <a:ln/>
        </p:spPr>
        <p:txBody>
          <a:bodyPr wrap="square" rtlCol="0" anchor="ctr"/>
          <a:lstStyle/>
          <a:p>
            <a:pPr marL="0" indent="0">
              <a:buNone/>
            </a:pPr>
            <a:r>
              <a:rPr lang="en-US" sz="1200" dirty="0">
                <a:solidFill>
                  <a:srgbClr val="CADCFC"/>
                </a:solidFill>
                <a:latin typeface="Cambria" pitchFamily="34" charset="0"/>
                <a:ea typeface="Cambria" pitchFamily="34" charset="-122"/>
                <a:cs typeface="Cambria" pitchFamily="34" charset="-120"/>
              </a:rPr>
              <a:t>R = (P₁ − P₀) / P₀ × 100</a:t>
            </a:r>
            <a:endParaRPr lang="en-US" sz="1200" dirty="0"/>
          </a:p>
        </p:txBody>
      </p:sp>
      <p:sp>
        <p:nvSpPr>
          <p:cNvPr id="20" name="Text 18"/>
          <p:cNvSpPr/>
          <p:nvPr/>
        </p:nvSpPr>
        <p:spPr>
          <a:xfrm>
            <a:off x="6309360" y="2670048"/>
            <a:ext cx="1828800" cy="365760"/>
          </a:xfrm>
          <a:prstGeom prst="rect">
            <a:avLst/>
          </a:prstGeom>
          <a:noFill/>
          <a:ln/>
        </p:spPr>
        <p:txBody>
          <a:bodyPr wrap="square" rtlCol="0" anchor="ctr"/>
          <a:lstStyle/>
          <a:p>
            <a:pPr marL="0" indent="0">
              <a:buNone/>
            </a:pPr>
            <a:r>
              <a:rPr lang="en-US" sz="1200" b="1" dirty="0">
                <a:solidFill>
                  <a:srgbClr val="D9A441"/>
                </a:solidFill>
                <a:latin typeface="Calibri" pitchFamily="34" charset="0"/>
                <a:ea typeface="Calibri" pitchFamily="34" charset="-122"/>
                <a:cs typeface="Calibri" pitchFamily="34" charset="-120"/>
              </a:rPr>
              <a:t>Variance</a:t>
            </a:r>
            <a:endParaRPr lang="en-US" sz="1200" dirty="0"/>
          </a:p>
        </p:txBody>
      </p:sp>
      <p:sp>
        <p:nvSpPr>
          <p:cNvPr id="21" name="Text 19"/>
          <p:cNvSpPr/>
          <p:nvPr/>
        </p:nvSpPr>
        <p:spPr>
          <a:xfrm>
            <a:off x="8138160" y="2670048"/>
            <a:ext cx="3383280" cy="365760"/>
          </a:xfrm>
          <a:prstGeom prst="rect">
            <a:avLst/>
          </a:prstGeom>
          <a:noFill/>
          <a:ln/>
        </p:spPr>
        <p:txBody>
          <a:bodyPr wrap="square" rtlCol="0" anchor="ctr"/>
          <a:lstStyle/>
          <a:p>
            <a:pPr marL="0" indent="0">
              <a:buNone/>
            </a:pPr>
            <a:r>
              <a:rPr lang="en-US" sz="1200" dirty="0">
                <a:solidFill>
                  <a:srgbClr val="CADCFC"/>
                </a:solidFill>
                <a:latin typeface="Cambria" pitchFamily="34" charset="0"/>
                <a:ea typeface="Cambria" pitchFamily="34" charset="-122"/>
                <a:cs typeface="Cambria" pitchFamily="34" charset="-120"/>
              </a:rPr>
              <a:t>σ² = Σ(R − R̄)² / n</a:t>
            </a:r>
            <a:endParaRPr lang="en-US" sz="1200" dirty="0"/>
          </a:p>
        </p:txBody>
      </p:sp>
      <p:sp>
        <p:nvSpPr>
          <p:cNvPr id="22" name="Text 20"/>
          <p:cNvSpPr/>
          <p:nvPr/>
        </p:nvSpPr>
        <p:spPr>
          <a:xfrm>
            <a:off x="6309360" y="3236976"/>
            <a:ext cx="1828800" cy="365760"/>
          </a:xfrm>
          <a:prstGeom prst="rect">
            <a:avLst/>
          </a:prstGeom>
          <a:noFill/>
          <a:ln/>
        </p:spPr>
        <p:txBody>
          <a:bodyPr wrap="square" rtlCol="0" anchor="ctr"/>
          <a:lstStyle/>
          <a:p>
            <a:pPr marL="0" indent="0">
              <a:buNone/>
            </a:pPr>
            <a:r>
              <a:rPr lang="en-US" sz="1200" b="1" dirty="0">
                <a:solidFill>
                  <a:srgbClr val="D9A441"/>
                </a:solidFill>
                <a:latin typeface="Calibri" pitchFamily="34" charset="0"/>
                <a:ea typeface="Calibri" pitchFamily="34" charset="-122"/>
                <a:cs typeface="Calibri" pitchFamily="34" charset="-120"/>
              </a:rPr>
              <a:t>Std. Deviation</a:t>
            </a:r>
            <a:endParaRPr lang="en-US" sz="1200" dirty="0"/>
          </a:p>
        </p:txBody>
      </p:sp>
      <p:sp>
        <p:nvSpPr>
          <p:cNvPr id="23" name="Text 21"/>
          <p:cNvSpPr/>
          <p:nvPr/>
        </p:nvSpPr>
        <p:spPr>
          <a:xfrm>
            <a:off x="8138160" y="3236976"/>
            <a:ext cx="3383280" cy="365760"/>
          </a:xfrm>
          <a:prstGeom prst="rect">
            <a:avLst/>
          </a:prstGeom>
          <a:noFill/>
          <a:ln/>
        </p:spPr>
        <p:txBody>
          <a:bodyPr wrap="square" rtlCol="0" anchor="ctr"/>
          <a:lstStyle/>
          <a:p>
            <a:pPr marL="0" indent="0">
              <a:buNone/>
            </a:pPr>
            <a:r>
              <a:rPr lang="en-US" sz="1200" dirty="0">
                <a:solidFill>
                  <a:srgbClr val="CADCFC"/>
                </a:solidFill>
                <a:latin typeface="Cambria" pitchFamily="34" charset="0"/>
                <a:ea typeface="Cambria" pitchFamily="34" charset="-122"/>
                <a:cs typeface="Cambria" pitchFamily="34" charset="-120"/>
              </a:rPr>
              <a:t>σ = √Variance</a:t>
            </a:r>
            <a:endParaRPr lang="en-US" sz="1200" dirty="0"/>
          </a:p>
        </p:txBody>
      </p:sp>
      <p:sp>
        <p:nvSpPr>
          <p:cNvPr id="24" name="Text 22"/>
          <p:cNvSpPr/>
          <p:nvPr/>
        </p:nvSpPr>
        <p:spPr>
          <a:xfrm>
            <a:off x="6309360" y="3803904"/>
            <a:ext cx="1828800" cy="365760"/>
          </a:xfrm>
          <a:prstGeom prst="rect">
            <a:avLst/>
          </a:prstGeom>
          <a:noFill/>
          <a:ln/>
        </p:spPr>
        <p:txBody>
          <a:bodyPr wrap="square" rtlCol="0" anchor="ctr"/>
          <a:lstStyle/>
          <a:p>
            <a:pPr marL="0" indent="0">
              <a:buNone/>
            </a:pPr>
            <a:r>
              <a:rPr lang="en-US" sz="1200" b="1" dirty="0">
                <a:solidFill>
                  <a:srgbClr val="D9A441"/>
                </a:solidFill>
                <a:latin typeface="Calibri" pitchFamily="34" charset="0"/>
                <a:ea typeface="Calibri" pitchFamily="34" charset="-122"/>
                <a:cs typeface="Calibri" pitchFamily="34" charset="-120"/>
              </a:rPr>
              <a:t>Covariance</a:t>
            </a:r>
            <a:endParaRPr lang="en-US" sz="1200" dirty="0"/>
          </a:p>
        </p:txBody>
      </p:sp>
      <p:sp>
        <p:nvSpPr>
          <p:cNvPr id="25" name="Text 23"/>
          <p:cNvSpPr/>
          <p:nvPr/>
        </p:nvSpPr>
        <p:spPr>
          <a:xfrm>
            <a:off x="8138160" y="3803904"/>
            <a:ext cx="3383280" cy="365760"/>
          </a:xfrm>
          <a:prstGeom prst="rect">
            <a:avLst/>
          </a:prstGeom>
          <a:noFill/>
          <a:ln/>
        </p:spPr>
        <p:txBody>
          <a:bodyPr wrap="square" rtlCol="0" anchor="ctr"/>
          <a:lstStyle/>
          <a:p>
            <a:pPr marL="0" indent="0">
              <a:buNone/>
            </a:pPr>
            <a:r>
              <a:rPr lang="en-US" sz="1200" dirty="0">
                <a:solidFill>
                  <a:srgbClr val="CADCFC"/>
                </a:solidFill>
                <a:latin typeface="Cambria" pitchFamily="34" charset="0"/>
                <a:ea typeface="Cambria" pitchFamily="34" charset="-122"/>
                <a:cs typeface="Cambria" pitchFamily="34" charset="-120"/>
              </a:rPr>
              <a:t>Cov(X,Y) = Σ[(Rₓ−R̄ₓ)(Rᵧ−R̄ᵧ)] / n</a:t>
            </a:r>
            <a:endParaRPr lang="en-US" sz="1200" dirty="0"/>
          </a:p>
        </p:txBody>
      </p:sp>
      <p:sp>
        <p:nvSpPr>
          <p:cNvPr id="26" name="Text 24"/>
          <p:cNvSpPr/>
          <p:nvPr/>
        </p:nvSpPr>
        <p:spPr>
          <a:xfrm>
            <a:off x="6309360" y="4370832"/>
            <a:ext cx="1828800" cy="365760"/>
          </a:xfrm>
          <a:prstGeom prst="rect">
            <a:avLst/>
          </a:prstGeom>
          <a:noFill/>
          <a:ln/>
        </p:spPr>
        <p:txBody>
          <a:bodyPr wrap="square" rtlCol="0" anchor="ctr"/>
          <a:lstStyle/>
          <a:p>
            <a:pPr marL="0" indent="0">
              <a:buNone/>
            </a:pPr>
            <a:r>
              <a:rPr lang="en-US" sz="1200" b="1" dirty="0">
                <a:solidFill>
                  <a:srgbClr val="D9A441"/>
                </a:solidFill>
                <a:latin typeface="Calibri" pitchFamily="34" charset="0"/>
                <a:ea typeface="Calibri" pitchFamily="34" charset="-122"/>
                <a:cs typeface="Calibri" pitchFamily="34" charset="-120"/>
              </a:rPr>
              <a:t>Correlation</a:t>
            </a:r>
            <a:endParaRPr lang="en-US" sz="1200" dirty="0"/>
          </a:p>
        </p:txBody>
      </p:sp>
      <p:sp>
        <p:nvSpPr>
          <p:cNvPr id="27" name="Text 25"/>
          <p:cNvSpPr/>
          <p:nvPr/>
        </p:nvSpPr>
        <p:spPr>
          <a:xfrm>
            <a:off x="8138160" y="4370832"/>
            <a:ext cx="3383280" cy="365760"/>
          </a:xfrm>
          <a:prstGeom prst="rect">
            <a:avLst/>
          </a:prstGeom>
          <a:noFill/>
          <a:ln/>
        </p:spPr>
        <p:txBody>
          <a:bodyPr wrap="square" rtlCol="0" anchor="ctr"/>
          <a:lstStyle/>
          <a:p>
            <a:pPr marL="0" indent="0">
              <a:buNone/>
            </a:pPr>
            <a:r>
              <a:rPr lang="en-US" sz="1200" dirty="0">
                <a:solidFill>
                  <a:srgbClr val="CADCFC"/>
                </a:solidFill>
                <a:latin typeface="Cambria" pitchFamily="34" charset="0"/>
                <a:ea typeface="Cambria" pitchFamily="34" charset="-122"/>
                <a:cs typeface="Cambria" pitchFamily="34" charset="-120"/>
              </a:rPr>
              <a:t>r = Cov(X,Y) / (σₓ × σᵧ)</a:t>
            </a:r>
            <a:endParaRPr lang="en-US" sz="1200" dirty="0"/>
          </a:p>
        </p:txBody>
      </p:sp>
      <p:sp>
        <p:nvSpPr>
          <p:cNvPr id="28" name="Text 26"/>
          <p:cNvSpPr/>
          <p:nvPr/>
        </p:nvSpPr>
        <p:spPr>
          <a:xfrm>
            <a:off x="6309360" y="4937760"/>
            <a:ext cx="1828800" cy="365760"/>
          </a:xfrm>
          <a:prstGeom prst="rect">
            <a:avLst/>
          </a:prstGeom>
          <a:noFill/>
          <a:ln/>
        </p:spPr>
        <p:txBody>
          <a:bodyPr wrap="square" rtlCol="0" anchor="ctr"/>
          <a:lstStyle/>
          <a:p>
            <a:pPr marL="0" indent="0">
              <a:buNone/>
            </a:pPr>
            <a:r>
              <a:rPr lang="en-US" sz="1200" b="1" dirty="0">
                <a:solidFill>
                  <a:srgbClr val="D9A441"/>
                </a:solidFill>
                <a:latin typeface="Calibri" pitchFamily="34" charset="0"/>
                <a:ea typeface="Calibri" pitchFamily="34" charset="-122"/>
                <a:cs typeface="Calibri" pitchFamily="34" charset="-120"/>
              </a:rPr>
              <a:t>Beta</a:t>
            </a:r>
            <a:endParaRPr lang="en-US" sz="1200" dirty="0"/>
          </a:p>
        </p:txBody>
      </p:sp>
      <p:sp>
        <p:nvSpPr>
          <p:cNvPr id="29" name="Text 27"/>
          <p:cNvSpPr/>
          <p:nvPr/>
        </p:nvSpPr>
        <p:spPr>
          <a:xfrm>
            <a:off x="8138160" y="4937760"/>
            <a:ext cx="3383280" cy="365760"/>
          </a:xfrm>
          <a:prstGeom prst="rect">
            <a:avLst/>
          </a:prstGeom>
          <a:noFill/>
          <a:ln/>
        </p:spPr>
        <p:txBody>
          <a:bodyPr wrap="square" rtlCol="0" anchor="ctr"/>
          <a:lstStyle/>
          <a:p>
            <a:pPr marL="0" indent="0">
              <a:buNone/>
            </a:pPr>
            <a:r>
              <a:rPr lang="en-US" sz="1200" dirty="0">
                <a:solidFill>
                  <a:srgbClr val="CADCFC"/>
                </a:solidFill>
                <a:latin typeface="Cambria" pitchFamily="34" charset="0"/>
                <a:ea typeface="Cambria" pitchFamily="34" charset="-122"/>
                <a:cs typeface="Cambria" pitchFamily="34" charset="-120"/>
              </a:rPr>
              <a:t>β = Cov(Stock, Market) / Var(Market)</a:t>
            </a:r>
            <a:endParaRPr lang="en-US" sz="1200" dirty="0"/>
          </a:p>
        </p:txBody>
      </p:sp>
      <p:sp>
        <p:nvSpPr>
          <p:cNvPr id="30" name="Text 28"/>
          <p:cNvSpPr/>
          <p:nvPr/>
        </p:nvSpPr>
        <p:spPr>
          <a:xfrm>
            <a:off x="6309360" y="5504688"/>
            <a:ext cx="1828800" cy="365760"/>
          </a:xfrm>
          <a:prstGeom prst="rect">
            <a:avLst/>
          </a:prstGeom>
          <a:noFill/>
          <a:ln/>
        </p:spPr>
        <p:txBody>
          <a:bodyPr wrap="square" rtlCol="0" anchor="ctr"/>
          <a:lstStyle/>
          <a:p>
            <a:pPr marL="0" indent="0">
              <a:buNone/>
            </a:pPr>
            <a:r>
              <a:rPr lang="en-US" sz="1200" b="1" dirty="0">
                <a:solidFill>
                  <a:srgbClr val="D9A441"/>
                </a:solidFill>
                <a:latin typeface="Calibri" pitchFamily="34" charset="0"/>
                <a:ea typeface="Calibri" pitchFamily="34" charset="-122"/>
                <a:cs typeface="Calibri" pitchFamily="34" charset="-120"/>
              </a:rPr>
              <a:t>Sharpe Ratio</a:t>
            </a:r>
            <a:endParaRPr lang="en-US" sz="1200" dirty="0"/>
          </a:p>
        </p:txBody>
      </p:sp>
      <p:sp>
        <p:nvSpPr>
          <p:cNvPr id="31" name="Text 29"/>
          <p:cNvSpPr/>
          <p:nvPr/>
        </p:nvSpPr>
        <p:spPr>
          <a:xfrm>
            <a:off x="8138160" y="5504688"/>
            <a:ext cx="3383280" cy="365760"/>
          </a:xfrm>
          <a:prstGeom prst="rect">
            <a:avLst/>
          </a:prstGeom>
          <a:noFill/>
          <a:ln/>
        </p:spPr>
        <p:txBody>
          <a:bodyPr wrap="square" rtlCol="0" anchor="ctr"/>
          <a:lstStyle/>
          <a:p>
            <a:pPr marL="0" indent="0">
              <a:buNone/>
            </a:pPr>
            <a:r>
              <a:rPr lang="en-US" sz="1200" dirty="0">
                <a:solidFill>
                  <a:srgbClr val="CADCFC"/>
                </a:solidFill>
                <a:latin typeface="Cambria" pitchFamily="34" charset="0"/>
                <a:ea typeface="Cambria" pitchFamily="34" charset="-122"/>
                <a:cs typeface="Cambria" pitchFamily="34" charset="-120"/>
              </a:rPr>
              <a:t>S = (Rₚ − Rf) / σₚ</a:t>
            </a:r>
            <a:endParaRPr lang="en-US" sz="1200" dirty="0"/>
          </a:p>
        </p:txBody>
      </p:sp>
      <p:sp>
        <p:nvSpPr>
          <p:cNvPr id="32" name="Text 30"/>
          <p:cNvSpPr/>
          <p:nvPr/>
        </p:nvSpPr>
        <p:spPr>
          <a:xfrm>
            <a:off x="457200" y="6473952"/>
            <a:ext cx="7315200" cy="274320"/>
          </a:xfrm>
          <a:prstGeom prst="rect">
            <a:avLst/>
          </a:prstGeom>
          <a:noFill/>
          <a:ln/>
        </p:spPr>
        <p:txBody>
          <a:bodyPr wrap="square"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Risk and Return Analysis in Equities  |  Ventura Securities Ltd</a:t>
            </a:r>
            <a:endParaRPr lang="en-US" sz="900" dirty="0"/>
          </a:p>
        </p:txBody>
      </p:sp>
      <p:sp>
        <p:nvSpPr>
          <p:cNvPr id="33" name="Text 31"/>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5486400" cy="274320"/>
          </a:xfrm>
          <a:prstGeom prst="rect">
            <a:avLst/>
          </a:prstGeom>
          <a:noFill/>
          <a:ln/>
        </p:spPr>
        <p:txBody>
          <a:bodyPr wrap="square"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CHAPTER 3 · COMPANY PROFILE</a:t>
            </a:r>
            <a:endParaRPr lang="en-US" sz="1200" dirty="0"/>
          </a:p>
        </p:txBody>
      </p:sp>
      <p:sp>
        <p:nvSpPr>
          <p:cNvPr id="3" name="Text 1"/>
          <p:cNvSpPr/>
          <p:nvPr/>
        </p:nvSpPr>
        <p:spPr>
          <a:xfrm>
            <a:off x="548640" y="365760"/>
            <a:ext cx="11091672" cy="7315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Ventura Securities Ltd</a:t>
            </a:r>
            <a:endParaRPr lang="en-US" sz="3000" dirty="0"/>
          </a:p>
        </p:txBody>
      </p:sp>
      <p:sp>
        <p:nvSpPr>
          <p:cNvPr id="4" name="Text 2"/>
          <p:cNvSpPr/>
          <p:nvPr/>
        </p:nvSpPr>
        <p:spPr>
          <a:xfrm>
            <a:off x="548640" y="1234440"/>
            <a:ext cx="6766560" cy="914400"/>
          </a:xfrm>
          <a:prstGeom prst="rect">
            <a:avLst/>
          </a:prstGeom>
          <a:noFill/>
          <a:ln/>
        </p:spPr>
        <p:txBody>
          <a:bodyPr wrap="square" rtlCol="0" anchor="ctr"/>
          <a:lstStyle/>
          <a:p>
            <a:pPr marL="0" indent="0">
              <a:buNone/>
            </a:pPr>
            <a:r>
              <a:rPr lang="en-US" sz="1300" dirty="0">
                <a:solidFill>
                  <a:srgbClr val="1B1B2F"/>
                </a:solidFill>
                <a:latin typeface="Calibri" pitchFamily="34" charset="0"/>
                <a:ea typeface="Calibri" pitchFamily="34" charset="-122"/>
                <a:cs typeface="Calibri" pitchFamily="34" charset="-120"/>
              </a:rPr>
              <a:t>A full-service brokerage and financial services firm in India offering equity &amp; derivatives trading, mutual funds, IPOs, and portfolio management — regulated under SEBI.</a:t>
            </a:r>
            <a:endParaRPr lang="en-US" sz="1300" dirty="0"/>
          </a:p>
        </p:txBody>
      </p:sp>
      <p:sp>
        <p:nvSpPr>
          <p:cNvPr id="5" name="Shape 3"/>
          <p:cNvSpPr/>
          <p:nvPr/>
        </p:nvSpPr>
        <p:spPr>
          <a:xfrm>
            <a:off x="548640" y="2340864"/>
            <a:ext cx="109728" cy="109728"/>
          </a:xfrm>
          <a:prstGeom prst="ellipse">
            <a:avLst/>
          </a:prstGeom>
          <a:solidFill>
            <a:srgbClr val="D9A441"/>
          </a:solidFill>
          <a:ln/>
        </p:spPr>
      </p:sp>
      <p:sp>
        <p:nvSpPr>
          <p:cNvPr id="6" name="Text 4"/>
          <p:cNvSpPr/>
          <p:nvPr/>
        </p:nvSpPr>
        <p:spPr>
          <a:xfrm>
            <a:off x="822960" y="2194560"/>
            <a:ext cx="6492240" cy="411480"/>
          </a:xfrm>
          <a:prstGeom prst="rect">
            <a:avLst/>
          </a:prstGeom>
          <a:noFill/>
          <a:ln/>
        </p:spPr>
        <p:txBody>
          <a:bodyPr wrap="square" rtlCol="0" anchor="ctr"/>
          <a:lstStyle/>
          <a:p>
            <a:pPr marL="0" indent="0">
              <a:buNone/>
            </a:pPr>
            <a:r>
              <a:rPr lang="en-US" sz="1250" dirty="0">
                <a:solidFill>
                  <a:srgbClr val="1B1B2F"/>
                </a:solidFill>
                <a:latin typeface="Calibri" pitchFamily="34" charset="0"/>
                <a:ea typeface="Calibri" pitchFamily="34" charset="-122"/>
                <a:cs typeface="Calibri" pitchFamily="34" charset="-120"/>
              </a:rPr>
              <a:t>Research-based guidance and market insights</a:t>
            </a:r>
            <a:endParaRPr lang="en-US" sz="1250" dirty="0"/>
          </a:p>
        </p:txBody>
      </p:sp>
      <p:sp>
        <p:nvSpPr>
          <p:cNvPr id="7" name="Shape 5"/>
          <p:cNvSpPr/>
          <p:nvPr/>
        </p:nvSpPr>
        <p:spPr>
          <a:xfrm>
            <a:off x="548640" y="2843784"/>
            <a:ext cx="109728" cy="109728"/>
          </a:xfrm>
          <a:prstGeom prst="ellipse">
            <a:avLst/>
          </a:prstGeom>
          <a:solidFill>
            <a:srgbClr val="D9A441"/>
          </a:solidFill>
          <a:ln/>
        </p:spPr>
      </p:sp>
      <p:sp>
        <p:nvSpPr>
          <p:cNvPr id="8" name="Text 6"/>
          <p:cNvSpPr/>
          <p:nvPr/>
        </p:nvSpPr>
        <p:spPr>
          <a:xfrm>
            <a:off x="822960" y="2697480"/>
            <a:ext cx="6492240" cy="411480"/>
          </a:xfrm>
          <a:prstGeom prst="rect">
            <a:avLst/>
          </a:prstGeom>
          <a:noFill/>
          <a:ln/>
        </p:spPr>
        <p:txBody>
          <a:bodyPr wrap="square" rtlCol="0" anchor="ctr"/>
          <a:lstStyle/>
          <a:p>
            <a:pPr marL="0" indent="0">
              <a:buNone/>
            </a:pPr>
            <a:r>
              <a:rPr lang="en-US" sz="1250" dirty="0">
                <a:solidFill>
                  <a:srgbClr val="1B1B2F"/>
                </a:solidFill>
                <a:latin typeface="Calibri" pitchFamily="34" charset="0"/>
                <a:ea typeface="Calibri" pitchFamily="34" charset="-122"/>
                <a:cs typeface="Calibri" pitchFamily="34" charset="-120"/>
              </a:rPr>
              <a:t>Advanced digital trading platforms</a:t>
            </a:r>
            <a:endParaRPr lang="en-US" sz="1250" dirty="0"/>
          </a:p>
        </p:txBody>
      </p:sp>
      <p:sp>
        <p:nvSpPr>
          <p:cNvPr id="9" name="Shape 7"/>
          <p:cNvSpPr/>
          <p:nvPr/>
        </p:nvSpPr>
        <p:spPr>
          <a:xfrm>
            <a:off x="548640" y="3346704"/>
            <a:ext cx="109728" cy="109728"/>
          </a:xfrm>
          <a:prstGeom prst="ellipse">
            <a:avLst/>
          </a:prstGeom>
          <a:solidFill>
            <a:srgbClr val="D9A441"/>
          </a:solidFill>
          <a:ln/>
        </p:spPr>
      </p:sp>
      <p:sp>
        <p:nvSpPr>
          <p:cNvPr id="10" name="Text 8"/>
          <p:cNvSpPr/>
          <p:nvPr/>
        </p:nvSpPr>
        <p:spPr>
          <a:xfrm>
            <a:off x="822960" y="3200400"/>
            <a:ext cx="6492240" cy="411480"/>
          </a:xfrm>
          <a:prstGeom prst="rect">
            <a:avLst/>
          </a:prstGeom>
          <a:noFill/>
          <a:ln/>
        </p:spPr>
        <p:txBody>
          <a:bodyPr wrap="square" rtlCol="0" anchor="ctr"/>
          <a:lstStyle/>
          <a:p>
            <a:pPr marL="0" indent="0">
              <a:buNone/>
            </a:pPr>
            <a:r>
              <a:rPr lang="en-US" sz="1250" dirty="0">
                <a:solidFill>
                  <a:srgbClr val="1B1B2F"/>
                </a:solidFill>
                <a:latin typeface="Calibri" pitchFamily="34" charset="0"/>
                <a:ea typeface="Calibri" pitchFamily="34" charset="-122"/>
                <a:cs typeface="Calibri" pitchFamily="34" charset="-120"/>
              </a:rPr>
              <a:t>Comprehensive service offering across asset classes</a:t>
            </a:r>
            <a:endParaRPr lang="en-US" sz="1250" dirty="0"/>
          </a:p>
        </p:txBody>
      </p:sp>
      <p:sp>
        <p:nvSpPr>
          <p:cNvPr id="11" name="Shape 9"/>
          <p:cNvSpPr/>
          <p:nvPr/>
        </p:nvSpPr>
        <p:spPr>
          <a:xfrm>
            <a:off x="548640" y="3849624"/>
            <a:ext cx="109728" cy="109728"/>
          </a:xfrm>
          <a:prstGeom prst="ellipse">
            <a:avLst/>
          </a:prstGeom>
          <a:solidFill>
            <a:srgbClr val="D9A441"/>
          </a:solidFill>
          <a:ln/>
        </p:spPr>
      </p:sp>
      <p:sp>
        <p:nvSpPr>
          <p:cNvPr id="12" name="Text 10"/>
          <p:cNvSpPr/>
          <p:nvPr/>
        </p:nvSpPr>
        <p:spPr>
          <a:xfrm>
            <a:off x="822960" y="3703320"/>
            <a:ext cx="6492240" cy="411480"/>
          </a:xfrm>
          <a:prstGeom prst="rect">
            <a:avLst/>
          </a:prstGeom>
          <a:noFill/>
          <a:ln/>
        </p:spPr>
        <p:txBody>
          <a:bodyPr wrap="square" rtlCol="0" anchor="ctr"/>
          <a:lstStyle/>
          <a:p>
            <a:pPr marL="0" indent="0">
              <a:buNone/>
            </a:pPr>
            <a:r>
              <a:rPr lang="en-US" sz="1250" dirty="0">
                <a:solidFill>
                  <a:srgbClr val="1B1B2F"/>
                </a:solidFill>
                <a:latin typeface="Calibri" pitchFamily="34" charset="0"/>
                <a:ea typeface="Calibri" pitchFamily="34" charset="-122"/>
                <a:cs typeface="Calibri" pitchFamily="34" charset="-120"/>
              </a:rPr>
              <a:t>Strong client-centric advisory approach</a:t>
            </a:r>
            <a:endParaRPr lang="en-US" sz="1250" dirty="0"/>
          </a:p>
        </p:txBody>
      </p:sp>
      <p:sp>
        <p:nvSpPr>
          <p:cNvPr id="13" name="Shape 11"/>
          <p:cNvSpPr/>
          <p:nvPr/>
        </p:nvSpPr>
        <p:spPr>
          <a:xfrm>
            <a:off x="548640" y="4352544"/>
            <a:ext cx="109728" cy="109728"/>
          </a:xfrm>
          <a:prstGeom prst="ellipse">
            <a:avLst/>
          </a:prstGeom>
          <a:solidFill>
            <a:srgbClr val="D9A441"/>
          </a:solidFill>
          <a:ln/>
        </p:spPr>
      </p:sp>
      <p:sp>
        <p:nvSpPr>
          <p:cNvPr id="14" name="Text 12"/>
          <p:cNvSpPr/>
          <p:nvPr/>
        </p:nvSpPr>
        <p:spPr>
          <a:xfrm>
            <a:off x="822960" y="4206240"/>
            <a:ext cx="6492240" cy="411480"/>
          </a:xfrm>
          <a:prstGeom prst="rect">
            <a:avLst/>
          </a:prstGeom>
          <a:noFill/>
          <a:ln/>
        </p:spPr>
        <p:txBody>
          <a:bodyPr wrap="square" rtlCol="0" anchor="ctr"/>
          <a:lstStyle/>
          <a:p>
            <a:pPr marL="0" indent="0">
              <a:buNone/>
            </a:pPr>
            <a:r>
              <a:rPr lang="en-US" sz="1250" dirty="0">
                <a:solidFill>
                  <a:srgbClr val="1B1B2F"/>
                </a:solidFill>
                <a:latin typeface="Calibri" pitchFamily="34" charset="0"/>
                <a:ea typeface="Calibri" pitchFamily="34" charset="-122"/>
                <a:cs typeface="Calibri" pitchFamily="34" charset="-120"/>
              </a:rPr>
              <a:t>Focus on risk-return evaluation using Beta, Sharpe &amp; CAPM</a:t>
            </a:r>
            <a:endParaRPr lang="en-US" sz="1250" dirty="0"/>
          </a:p>
        </p:txBody>
      </p:sp>
      <p:sp>
        <p:nvSpPr>
          <p:cNvPr id="15" name="Shape 13"/>
          <p:cNvSpPr/>
          <p:nvPr/>
        </p:nvSpPr>
        <p:spPr>
          <a:xfrm>
            <a:off x="7635240" y="1234440"/>
            <a:ext cx="3977640" cy="4892040"/>
          </a:xfrm>
          <a:prstGeom prst="roundRect">
            <a:avLst>
              <a:gd name="adj" fmla="val 1839"/>
            </a:avLst>
          </a:prstGeom>
          <a:solidFill>
            <a:srgbClr val="1E2761"/>
          </a:solidFill>
          <a:ln/>
        </p:spPr>
      </p:sp>
      <p:sp>
        <p:nvSpPr>
          <p:cNvPr id="16" name="Text 14"/>
          <p:cNvSpPr/>
          <p:nvPr/>
        </p:nvSpPr>
        <p:spPr>
          <a:xfrm>
            <a:off x="7909560" y="1463040"/>
            <a:ext cx="3474720" cy="320040"/>
          </a:xfrm>
          <a:prstGeom prst="rect">
            <a:avLst/>
          </a:prstGeom>
          <a:noFill/>
          <a:ln/>
        </p:spPr>
        <p:txBody>
          <a:bodyPr wrap="square" rtlCol="0" anchor="ctr"/>
          <a:lstStyle/>
          <a:p>
            <a:pPr marL="0" indent="0">
              <a:buNone/>
            </a:pPr>
            <a:r>
              <a:rPr lang="en-US" sz="1400" b="1" dirty="0">
                <a:solidFill>
                  <a:srgbClr val="D9A441"/>
                </a:solidFill>
                <a:latin typeface="Cambria" pitchFamily="34" charset="0"/>
                <a:ea typeface="Cambria" pitchFamily="34" charset="-122"/>
                <a:cs typeface="Cambria" pitchFamily="34" charset="-120"/>
              </a:rPr>
              <a:t>Vision</a:t>
            </a:r>
            <a:endParaRPr lang="en-US" sz="1400" dirty="0"/>
          </a:p>
        </p:txBody>
      </p:sp>
      <p:sp>
        <p:nvSpPr>
          <p:cNvPr id="17" name="Text 15"/>
          <p:cNvSpPr/>
          <p:nvPr/>
        </p:nvSpPr>
        <p:spPr>
          <a:xfrm>
            <a:off x="7909560" y="1783080"/>
            <a:ext cx="3474720" cy="1005840"/>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To be a prominent, technology-enabled financial services provider supporting sustainable wealth creation.</a:t>
            </a:r>
            <a:endParaRPr lang="en-US" sz="1150" dirty="0"/>
          </a:p>
        </p:txBody>
      </p:sp>
      <p:sp>
        <p:nvSpPr>
          <p:cNvPr id="18" name="Text 16"/>
          <p:cNvSpPr/>
          <p:nvPr/>
        </p:nvSpPr>
        <p:spPr>
          <a:xfrm>
            <a:off x="7909560" y="2880360"/>
            <a:ext cx="3474720" cy="320040"/>
          </a:xfrm>
          <a:prstGeom prst="rect">
            <a:avLst/>
          </a:prstGeom>
          <a:noFill/>
          <a:ln/>
        </p:spPr>
        <p:txBody>
          <a:bodyPr wrap="square" rtlCol="0" anchor="ctr"/>
          <a:lstStyle/>
          <a:p>
            <a:pPr marL="0" indent="0">
              <a:buNone/>
            </a:pPr>
            <a:r>
              <a:rPr lang="en-US" sz="1400" b="1" dirty="0">
                <a:solidFill>
                  <a:srgbClr val="D9A441"/>
                </a:solidFill>
                <a:latin typeface="Cambria" pitchFamily="34" charset="0"/>
                <a:ea typeface="Cambria" pitchFamily="34" charset="-122"/>
                <a:cs typeface="Cambria" pitchFamily="34" charset="-120"/>
              </a:rPr>
              <a:t>Mission</a:t>
            </a:r>
            <a:endParaRPr lang="en-US" sz="1400" dirty="0"/>
          </a:p>
        </p:txBody>
      </p:sp>
      <p:sp>
        <p:nvSpPr>
          <p:cNvPr id="19" name="Text 17"/>
          <p:cNvSpPr/>
          <p:nvPr/>
        </p:nvSpPr>
        <p:spPr>
          <a:xfrm>
            <a:off x="7909560" y="3200400"/>
            <a:ext cx="3474720" cy="1188720"/>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Deliver transparent, research-driven trading and advisory services that help investors achieve favorable risk-adjusted returns.</a:t>
            </a:r>
            <a:endParaRPr lang="en-US" sz="1150" dirty="0"/>
          </a:p>
        </p:txBody>
      </p:sp>
      <p:sp>
        <p:nvSpPr>
          <p:cNvPr id="20" name="Text 18"/>
          <p:cNvSpPr/>
          <p:nvPr/>
        </p:nvSpPr>
        <p:spPr>
          <a:xfrm>
            <a:off x="7909560" y="4526280"/>
            <a:ext cx="3474720" cy="320040"/>
          </a:xfrm>
          <a:prstGeom prst="rect">
            <a:avLst/>
          </a:prstGeom>
          <a:noFill/>
          <a:ln/>
        </p:spPr>
        <p:txBody>
          <a:bodyPr wrap="square" rtlCol="0" anchor="ctr"/>
          <a:lstStyle/>
          <a:p>
            <a:pPr marL="0" indent="0">
              <a:buNone/>
            </a:pPr>
            <a:r>
              <a:rPr lang="en-US" sz="1400" b="1" dirty="0">
                <a:solidFill>
                  <a:srgbClr val="D9A441"/>
                </a:solidFill>
                <a:latin typeface="Cambria" pitchFamily="34" charset="0"/>
                <a:ea typeface="Cambria" pitchFamily="34" charset="-122"/>
                <a:cs typeface="Cambria" pitchFamily="34" charset="-120"/>
              </a:rPr>
              <a:t>Core Values</a:t>
            </a:r>
            <a:endParaRPr lang="en-US" sz="1400" dirty="0"/>
          </a:p>
        </p:txBody>
      </p:sp>
      <p:sp>
        <p:nvSpPr>
          <p:cNvPr id="21" name="Text 19"/>
          <p:cNvSpPr/>
          <p:nvPr/>
        </p:nvSpPr>
        <p:spPr>
          <a:xfrm>
            <a:off x="7909560" y="4846320"/>
            <a:ext cx="3474720" cy="1097280"/>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Integrity  •  Customer-Centricity  •  Innovation  •  Excellence  •  Compliance</a:t>
            </a:r>
            <a:endParaRPr lang="en-US" sz="1150" dirty="0"/>
          </a:p>
        </p:txBody>
      </p:sp>
      <p:sp>
        <p:nvSpPr>
          <p:cNvPr id="22" name="Text 20"/>
          <p:cNvSpPr/>
          <p:nvPr/>
        </p:nvSpPr>
        <p:spPr>
          <a:xfrm>
            <a:off x="457200" y="6473952"/>
            <a:ext cx="7315200" cy="274320"/>
          </a:xfrm>
          <a:prstGeom prst="rect">
            <a:avLst/>
          </a:prstGeom>
          <a:noFill/>
          <a:ln/>
        </p:spPr>
        <p:txBody>
          <a:bodyPr wrap="square"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Risk and Return Analysis in Equities  |  Ventura Securities Ltd</a:t>
            </a:r>
            <a:endParaRPr lang="en-US" sz="900" dirty="0"/>
          </a:p>
        </p:txBody>
      </p:sp>
      <p:sp>
        <p:nvSpPr>
          <p:cNvPr id="23" name="Text 21"/>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5486400" cy="274320"/>
          </a:xfrm>
          <a:prstGeom prst="rect">
            <a:avLst/>
          </a:prstGeom>
          <a:noFill/>
          <a:ln/>
        </p:spPr>
        <p:txBody>
          <a:bodyPr wrap="square"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STUDY SAMPLE</a:t>
            </a:r>
            <a:endParaRPr lang="en-US" sz="1200" dirty="0"/>
          </a:p>
        </p:txBody>
      </p:sp>
      <p:sp>
        <p:nvSpPr>
          <p:cNvPr id="3" name="Text 1"/>
          <p:cNvSpPr/>
          <p:nvPr/>
        </p:nvSpPr>
        <p:spPr>
          <a:xfrm>
            <a:off x="548640" y="365760"/>
            <a:ext cx="11091672" cy="7315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Three Companies, Three Sectors</a:t>
            </a:r>
            <a:endParaRPr lang="en-US" sz="3000" dirty="0"/>
          </a:p>
        </p:txBody>
      </p:sp>
      <p:sp>
        <p:nvSpPr>
          <p:cNvPr id="4" name="Shape 2"/>
          <p:cNvSpPr/>
          <p:nvPr/>
        </p:nvSpPr>
        <p:spPr>
          <a:xfrm>
            <a:off x="548640" y="1463040"/>
            <a:ext cx="3520440" cy="4480560"/>
          </a:xfrm>
          <a:prstGeom prst="roundRect">
            <a:avLst>
              <a:gd name="adj" fmla="val 2597"/>
            </a:avLst>
          </a:prstGeom>
          <a:solidFill>
            <a:srgbClr val="F4F6FB"/>
          </a:solidFill>
          <a:ln/>
        </p:spPr>
      </p:sp>
      <p:sp>
        <p:nvSpPr>
          <p:cNvPr id="5" name="Shape 3"/>
          <p:cNvSpPr/>
          <p:nvPr/>
        </p:nvSpPr>
        <p:spPr>
          <a:xfrm>
            <a:off x="822960" y="1783080"/>
            <a:ext cx="914400" cy="914400"/>
          </a:xfrm>
          <a:prstGeom prst="roundRect">
            <a:avLst>
              <a:gd name="adj" fmla="val 15000"/>
            </a:avLst>
          </a:prstGeom>
          <a:solidFill>
            <a:srgbClr val="1E2761"/>
          </a:solidFill>
          <a:ln/>
        </p:spPr>
      </p:sp>
      <p:sp>
        <p:nvSpPr>
          <p:cNvPr id="6" name="Text 4"/>
          <p:cNvSpPr/>
          <p:nvPr/>
        </p:nvSpPr>
        <p:spPr>
          <a:xfrm>
            <a:off x="822960" y="1783080"/>
            <a:ext cx="914400" cy="91440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TC</a:t>
            </a:r>
            <a:endParaRPr lang="en-US" sz="2200" dirty="0"/>
          </a:p>
        </p:txBody>
      </p:sp>
      <p:sp>
        <p:nvSpPr>
          <p:cNvPr id="7" name="Text 5"/>
          <p:cNvSpPr/>
          <p:nvPr/>
        </p:nvSpPr>
        <p:spPr>
          <a:xfrm>
            <a:off x="822960" y="2834640"/>
            <a:ext cx="2971800" cy="457200"/>
          </a:xfrm>
          <a:prstGeom prst="rect">
            <a:avLst/>
          </a:prstGeom>
          <a:noFill/>
          <a:ln/>
        </p:spPr>
        <p:txBody>
          <a:bodyPr wrap="square"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TCS</a:t>
            </a:r>
            <a:endParaRPr lang="en-US" sz="1800" dirty="0"/>
          </a:p>
        </p:txBody>
      </p:sp>
      <p:sp>
        <p:nvSpPr>
          <p:cNvPr id="8" name="Text 6"/>
          <p:cNvSpPr/>
          <p:nvPr/>
        </p:nvSpPr>
        <p:spPr>
          <a:xfrm>
            <a:off x="822960" y="3291840"/>
            <a:ext cx="2971800" cy="365760"/>
          </a:xfrm>
          <a:prstGeom prst="rect">
            <a:avLst/>
          </a:prstGeom>
          <a:noFill/>
          <a:ln/>
        </p:spPr>
        <p:txBody>
          <a:bodyPr wrap="square" rtlCol="0" anchor="ctr"/>
          <a:lstStyle/>
          <a:p>
            <a:pPr marL="0" indent="0">
              <a:buNone/>
            </a:pPr>
            <a:r>
              <a:rPr lang="en-US" sz="1050" b="1" kern="0" spc="100" dirty="0">
                <a:solidFill>
                  <a:srgbClr val="1E2761"/>
                </a:solidFill>
                <a:latin typeface="Calibri" pitchFamily="34" charset="0"/>
                <a:ea typeface="Calibri" pitchFamily="34" charset="-122"/>
                <a:cs typeface="Calibri" pitchFamily="34" charset="-120"/>
              </a:rPr>
              <a:t>INFORMATION TECHNOLOGY</a:t>
            </a:r>
            <a:endParaRPr lang="en-US" sz="1050" dirty="0"/>
          </a:p>
        </p:txBody>
      </p:sp>
      <p:sp>
        <p:nvSpPr>
          <p:cNvPr id="9" name="Text 7"/>
          <p:cNvSpPr/>
          <p:nvPr/>
        </p:nvSpPr>
        <p:spPr>
          <a:xfrm>
            <a:off x="822960" y="3703320"/>
            <a:ext cx="2971800" cy="2011680"/>
          </a:xfrm>
          <a:prstGeom prst="rect">
            <a:avLst/>
          </a:prstGeom>
          <a:noFill/>
          <a:ln/>
        </p:spPr>
        <p:txBody>
          <a:bodyPr wrap="square" rtlCol="0" anchor="ctr"/>
          <a:lstStyle/>
          <a:p>
            <a:pPr marL="0" indent="0">
              <a:buNone/>
            </a:pPr>
            <a:r>
              <a:rPr lang="en-US" sz="1200" dirty="0">
                <a:solidFill>
                  <a:srgbClr val="1B1B2F"/>
                </a:solidFill>
                <a:latin typeface="Calibri" pitchFamily="34" charset="0"/>
                <a:ea typeface="Calibri" pitchFamily="34" charset="-122"/>
                <a:cs typeface="Calibri" pitchFamily="34" charset="-120"/>
              </a:rPr>
              <a:t>India's largest IT services company — a global bellwether for the technology export sector.</a:t>
            </a:r>
            <a:endParaRPr lang="en-US" sz="1200" dirty="0"/>
          </a:p>
        </p:txBody>
      </p:sp>
      <p:sp>
        <p:nvSpPr>
          <p:cNvPr id="10" name="Shape 8"/>
          <p:cNvSpPr/>
          <p:nvPr/>
        </p:nvSpPr>
        <p:spPr>
          <a:xfrm>
            <a:off x="4434840" y="1463040"/>
            <a:ext cx="3520440" cy="4480560"/>
          </a:xfrm>
          <a:prstGeom prst="roundRect">
            <a:avLst>
              <a:gd name="adj" fmla="val 2597"/>
            </a:avLst>
          </a:prstGeom>
          <a:solidFill>
            <a:srgbClr val="F4F6FB"/>
          </a:solidFill>
          <a:ln/>
        </p:spPr>
      </p:sp>
      <p:sp>
        <p:nvSpPr>
          <p:cNvPr id="11" name="Shape 9"/>
          <p:cNvSpPr/>
          <p:nvPr/>
        </p:nvSpPr>
        <p:spPr>
          <a:xfrm>
            <a:off x="4709160" y="1783080"/>
            <a:ext cx="914400" cy="914400"/>
          </a:xfrm>
          <a:prstGeom prst="roundRect">
            <a:avLst>
              <a:gd name="adj" fmla="val 15000"/>
            </a:avLst>
          </a:prstGeom>
          <a:solidFill>
            <a:srgbClr val="D9A441"/>
          </a:solidFill>
          <a:ln/>
        </p:spPr>
      </p:sp>
      <p:sp>
        <p:nvSpPr>
          <p:cNvPr id="12" name="Text 10"/>
          <p:cNvSpPr/>
          <p:nvPr/>
        </p:nvSpPr>
        <p:spPr>
          <a:xfrm>
            <a:off x="4709160" y="1783080"/>
            <a:ext cx="914400" cy="91440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IC</a:t>
            </a:r>
            <a:endParaRPr lang="en-US" sz="2200" dirty="0"/>
          </a:p>
        </p:txBody>
      </p:sp>
      <p:sp>
        <p:nvSpPr>
          <p:cNvPr id="13" name="Text 11"/>
          <p:cNvSpPr/>
          <p:nvPr/>
        </p:nvSpPr>
        <p:spPr>
          <a:xfrm>
            <a:off x="4709160" y="2834640"/>
            <a:ext cx="2971800" cy="457200"/>
          </a:xfrm>
          <a:prstGeom prst="rect">
            <a:avLst/>
          </a:prstGeom>
          <a:noFill/>
          <a:ln/>
        </p:spPr>
        <p:txBody>
          <a:bodyPr wrap="square"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ICICI Bank</a:t>
            </a:r>
            <a:endParaRPr lang="en-US" sz="1800" dirty="0"/>
          </a:p>
        </p:txBody>
      </p:sp>
      <p:sp>
        <p:nvSpPr>
          <p:cNvPr id="14" name="Text 12"/>
          <p:cNvSpPr/>
          <p:nvPr/>
        </p:nvSpPr>
        <p:spPr>
          <a:xfrm>
            <a:off x="4709160" y="3291840"/>
            <a:ext cx="2971800" cy="365760"/>
          </a:xfrm>
          <a:prstGeom prst="rect">
            <a:avLst/>
          </a:prstGeom>
          <a:noFill/>
          <a:ln/>
        </p:spPr>
        <p:txBody>
          <a:bodyPr wrap="square" rtlCol="0" anchor="ctr"/>
          <a:lstStyle/>
          <a:p>
            <a:pPr marL="0" indent="0">
              <a:buNone/>
            </a:pPr>
            <a:r>
              <a:rPr lang="en-US" sz="1050" b="1" kern="0" spc="100" dirty="0">
                <a:solidFill>
                  <a:srgbClr val="D9A441"/>
                </a:solidFill>
                <a:latin typeface="Calibri" pitchFamily="34" charset="0"/>
                <a:ea typeface="Calibri" pitchFamily="34" charset="-122"/>
                <a:cs typeface="Calibri" pitchFamily="34" charset="-120"/>
              </a:rPr>
              <a:t>BANKING &amp; FINANCIAL SERVICES</a:t>
            </a:r>
            <a:endParaRPr lang="en-US" sz="1050" dirty="0"/>
          </a:p>
        </p:txBody>
      </p:sp>
      <p:sp>
        <p:nvSpPr>
          <p:cNvPr id="15" name="Text 13"/>
          <p:cNvSpPr/>
          <p:nvPr/>
        </p:nvSpPr>
        <p:spPr>
          <a:xfrm>
            <a:off x="4709160" y="3703320"/>
            <a:ext cx="2971800" cy="2011680"/>
          </a:xfrm>
          <a:prstGeom prst="rect">
            <a:avLst/>
          </a:prstGeom>
          <a:noFill/>
          <a:ln/>
        </p:spPr>
        <p:txBody>
          <a:bodyPr wrap="square" rtlCol="0" anchor="ctr"/>
          <a:lstStyle/>
          <a:p>
            <a:pPr marL="0" indent="0">
              <a:buNone/>
            </a:pPr>
            <a:r>
              <a:rPr lang="en-US" sz="1200" dirty="0">
                <a:solidFill>
                  <a:srgbClr val="1B1B2F"/>
                </a:solidFill>
                <a:latin typeface="Calibri" pitchFamily="34" charset="0"/>
                <a:ea typeface="Calibri" pitchFamily="34" charset="-122"/>
                <a:cs typeface="Calibri" pitchFamily="34" charset="-120"/>
              </a:rPr>
              <a:t>Leading private-sector bank with strong retail and corporate banking franchises.</a:t>
            </a:r>
            <a:endParaRPr lang="en-US" sz="1200" dirty="0"/>
          </a:p>
        </p:txBody>
      </p:sp>
      <p:sp>
        <p:nvSpPr>
          <p:cNvPr id="16" name="Shape 14"/>
          <p:cNvSpPr/>
          <p:nvPr/>
        </p:nvSpPr>
        <p:spPr>
          <a:xfrm>
            <a:off x="8321040" y="1463040"/>
            <a:ext cx="3520440" cy="4480560"/>
          </a:xfrm>
          <a:prstGeom prst="roundRect">
            <a:avLst>
              <a:gd name="adj" fmla="val 2597"/>
            </a:avLst>
          </a:prstGeom>
          <a:solidFill>
            <a:srgbClr val="F4F6FB"/>
          </a:solidFill>
          <a:ln/>
        </p:spPr>
      </p:sp>
      <p:sp>
        <p:nvSpPr>
          <p:cNvPr id="17" name="Shape 15"/>
          <p:cNvSpPr/>
          <p:nvPr/>
        </p:nvSpPr>
        <p:spPr>
          <a:xfrm>
            <a:off x="8595360" y="1783080"/>
            <a:ext cx="914400" cy="914400"/>
          </a:xfrm>
          <a:prstGeom prst="roundRect">
            <a:avLst>
              <a:gd name="adj" fmla="val 15000"/>
            </a:avLst>
          </a:prstGeom>
          <a:solidFill>
            <a:srgbClr val="2E7D5B"/>
          </a:solidFill>
          <a:ln/>
        </p:spPr>
      </p:sp>
      <p:sp>
        <p:nvSpPr>
          <p:cNvPr id="18" name="Text 16"/>
          <p:cNvSpPr/>
          <p:nvPr/>
        </p:nvSpPr>
        <p:spPr>
          <a:xfrm>
            <a:off x="8595360" y="1783080"/>
            <a:ext cx="914400" cy="91440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RE</a:t>
            </a:r>
            <a:endParaRPr lang="en-US" sz="2200" dirty="0"/>
          </a:p>
        </p:txBody>
      </p:sp>
      <p:sp>
        <p:nvSpPr>
          <p:cNvPr id="19" name="Text 17"/>
          <p:cNvSpPr/>
          <p:nvPr/>
        </p:nvSpPr>
        <p:spPr>
          <a:xfrm>
            <a:off x="8595360" y="2834640"/>
            <a:ext cx="2971800" cy="457200"/>
          </a:xfrm>
          <a:prstGeom prst="rect">
            <a:avLst/>
          </a:prstGeom>
          <a:noFill/>
          <a:ln/>
        </p:spPr>
        <p:txBody>
          <a:bodyPr wrap="square"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Reliance Industries</a:t>
            </a:r>
            <a:endParaRPr lang="en-US" sz="1800" dirty="0"/>
          </a:p>
        </p:txBody>
      </p:sp>
      <p:sp>
        <p:nvSpPr>
          <p:cNvPr id="20" name="Text 18"/>
          <p:cNvSpPr/>
          <p:nvPr/>
        </p:nvSpPr>
        <p:spPr>
          <a:xfrm>
            <a:off x="8595360" y="3291840"/>
            <a:ext cx="2971800" cy="365760"/>
          </a:xfrm>
          <a:prstGeom prst="rect">
            <a:avLst/>
          </a:prstGeom>
          <a:noFill/>
          <a:ln/>
        </p:spPr>
        <p:txBody>
          <a:bodyPr wrap="square" rtlCol="0" anchor="ctr"/>
          <a:lstStyle/>
          <a:p>
            <a:pPr marL="0" indent="0">
              <a:buNone/>
            </a:pPr>
            <a:r>
              <a:rPr lang="en-US" sz="1050" b="1" kern="0" spc="100" dirty="0">
                <a:solidFill>
                  <a:srgbClr val="2E7D5B"/>
                </a:solidFill>
                <a:latin typeface="Calibri" pitchFamily="34" charset="0"/>
                <a:ea typeface="Calibri" pitchFamily="34" charset="-122"/>
                <a:cs typeface="Calibri" pitchFamily="34" charset="-120"/>
              </a:rPr>
              <a:t>ENERGY, RETAIL &amp; TELECOM</a:t>
            </a:r>
            <a:endParaRPr lang="en-US" sz="1050" dirty="0"/>
          </a:p>
        </p:txBody>
      </p:sp>
      <p:sp>
        <p:nvSpPr>
          <p:cNvPr id="21" name="Text 19"/>
          <p:cNvSpPr/>
          <p:nvPr/>
        </p:nvSpPr>
        <p:spPr>
          <a:xfrm>
            <a:off x="8595360" y="3703320"/>
            <a:ext cx="2971800" cy="2011680"/>
          </a:xfrm>
          <a:prstGeom prst="rect">
            <a:avLst/>
          </a:prstGeom>
          <a:noFill/>
          <a:ln/>
        </p:spPr>
        <p:txBody>
          <a:bodyPr wrap="square" rtlCol="0" anchor="ctr"/>
          <a:lstStyle/>
          <a:p>
            <a:pPr marL="0" indent="0">
              <a:buNone/>
            </a:pPr>
            <a:r>
              <a:rPr lang="en-US" sz="1200" dirty="0">
                <a:solidFill>
                  <a:srgbClr val="1B1B2F"/>
                </a:solidFill>
                <a:latin typeface="Calibri" pitchFamily="34" charset="0"/>
                <a:ea typeface="Calibri" pitchFamily="34" charset="-122"/>
                <a:cs typeface="Calibri" pitchFamily="34" charset="-120"/>
              </a:rPr>
              <a:t>India's largest conglomerate spanning petrochemicals, retail and digital services.</a:t>
            </a:r>
            <a:endParaRPr lang="en-US" sz="1200" dirty="0"/>
          </a:p>
        </p:txBody>
      </p:sp>
      <p:sp>
        <p:nvSpPr>
          <p:cNvPr id="22" name="Text 20"/>
          <p:cNvSpPr/>
          <p:nvPr/>
        </p:nvSpPr>
        <p:spPr>
          <a:xfrm>
            <a:off x="457200" y="6473952"/>
            <a:ext cx="7315200" cy="274320"/>
          </a:xfrm>
          <a:prstGeom prst="rect">
            <a:avLst/>
          </a:prstGeom>
          <a:noFill/>
          <a:ln/>
        </p:spPr>
        <p:txBody>
          <a:bodyPr wrap="square"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Risk and Return Analysis in Equities  |  Ventura Securities Ltd</a:t>
            </a:r>
            <a:endParaRPr lang="en-US" sz="900" dirty="0"/>
          </a:p>
        </p:txBody>
      </p:sp>
      <p:sp>
        <p:nvSpPr>
          <p:cNvPr id="23" name="Text 21"/>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5486400" cy="274320"/>
          </a:xfrm>
          <a:prstGeom prst="rect">
            <a:avLst/>
          </a:prstGeom>
          <a:noFill/>
          <a:ln/>
        </p:spPr>
        <p:txBody>
          <a:bodyPr wrap="square"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CHAPTER 4 · DATA ANALYSIS</a:t>
            </a:r>
            <a:endParaRPr lang="en-US" sz="1200" dirty="0"/>
          </a:p>
        </p:txBody>
      </p:sp>
      <p:sp>
        <p:nvSpPr>
          <p:cNvPr id="3" name="Text 1"/>
          <p:cNvSpPr/>
          <p:nvPr/>
        </p:nvSpPr>
        <p:spPr>
          <a:xfrm>
            <a:off x="548640" y="365760"/>
            <a:ext cx="11091672" cy="7315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Return Analysis (2021–26)</a:t>
            </a:r>
            <a:endParaRPr lang="en-US" sz="3000" dirty="0"/>
          </a:p>
        </p:txBody>
      </p:sp>
      <p:graphicFrame>
        <p:nvGraphicFramePr>
          <p:cNvPr id="4" name="Chart 0"/>
          <p:cNvGraphicFramePr/>
          <p:nvPr/>
        </p:nvGraphicFramePr>
        <p:xfrm>
          <a:off x="548640" y="1280160"/>
          <a:ext cx="694944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7772400" y="1371600"/>
            <a:ext cx="3931920" cy="365760"/>
          </a:xfrm>
          <a:prstGeom prst="rect">
            <a:avLst/>
          </a:prstGeom>
          <a:noFill/>
          <a:ln/>
        </p:spPr>
        <p:txBody>
          <a:bodyPr wrap="square"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Average Return Summary</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72400" y="1828800"/>
          <a:ext cx="3931920" cy="1554480"/>
        </p:xfrm>
        <a:graphic>
          <a:graphicData uri="http://schemas.openxmlformats.org/drawingml/2006/table">
            <a:tbl>
              <a:tblPr/>
              <a:tblGrid>
                <a:gridCol w="24688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tblGrid>
              <a:tr h="388620">
                <a:tc>
                  <a:txBody>
                    <a:bodyPr/>
                    <a:lstStyle/>
                    <a:p>
                      <a:pPr marL="0" indent="0" algn="ctr">
                        <a:buNone/>
                      </a:pPr>
                      <a:r>
                        <a:rPr lang="en-US" sz="1200" b="1" dirty="0">
                          <a:solidFill>
                            <a:srgbClr val="FFFFFF"/>
                          </a:solidFill>
                        </a:rPr>
                        <a:t>Company</a:t>
                      </a:r>
                      <a:endParaRPr lang="en-US" sz="1200" dirty="0"/>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200" b="1" dirty="0">
                          <a:solidFill>
                            <a:srgbClr val="FFFFFF"/>
                          </a:solidFill>
                        </a:rPr>
                        <a:t>Avg. Return</a:t>
                      </a:r>
                      <a:endParaRPr lang="en-US" sz="1200" dirty="0"/>
                    </a:p>
                  </a:txBody>
                  <a:tcPr anchor="ctr">
                    <a:lnL w="0" cap="flat" cmpd="sng" algn="ctr">
                      <a:noFill/>
                    </a:lnL>
                    <a:lnR w="0" cap="flat" cmpd="sng" algn="ctr">
                      <a:noFill/>
                    </a:lnR>
                    <a:lnT w="0" cap="flat" cmpd="sng" algn="ctr">
                      <a:noFill/>
                    </a:lnT>
                    <a:lnB w="0" cap="flat" cmpd="sng" algn="ctr">
                      <a:noFill/>
                    </a:lnB>
                    <a:solidFill>
                      <a:srgbClr val="1E2761"/>
                    </a:solidFill>
                  </a:tcPr>
                </a:tc>
                <a:extLst>
                  <a:ext uri="{0D108BD9-81ED-4DB2-BD59-A6C34878D82A}">
                    <a16:rowId xmlns:a16="http://schemas.microsoft.com/office/drawing/2014/main" val="10000"/>
                  </a:ext>
                </a:extLst>
              </a:tr>
              <a:tr h="388620">
                <a:tc>
                  <a:txBody>
                    <a:bodyPr/>
                    <a:lstStyle/>
                    <a:p>
                      <a:pPr marL="0" indent="0" algn="l">
                        <a:buNone/>
                      </a:pPr>
                      <a:r>
                        <a:rPr lang="en-US" sz="1200" dirty="0">
                          <a:solidFill>
                            <a:srgbClr val="1B1B2F"/>
                          </a:solidFill>
                        </a:rPr>
                        <a:t>TCS</a:t>
                      </a:r>
                      <a:endParaRPr lang="en-US" sz="1200" dirty="0"/>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200" dirty="0">
                          <a:solidFill>
                            <a:srgbClr val="1B1B2F"/>
                          </a:solidFill>
                        </a:rPr>
                        <a:t>1.76%</a:t>
                      </a:r>
                      <a:endParaRPr lang="en-US" sz="1200" dirty="0"/>
                    </a:p>
                  </a:txBody>
                  <a:tcPr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388620">
                <a:tc>
                  <a:txBody>
                    <a:bodyPr/>
                    <a:lstStyle/>
                    <a:p>
                      <a:pPr marL="0" indent="0" algn="l">
                        <a:buNone/>
                      </a:pPr>
                      <a:r>
                        <a:rPr lang="en-US" sz="1200" dirty="0">
                          <a:solidFill>
                            <a:srgbClr val="1B1B2F"/>
                          </a:solidFill>
                        </a:rPr>
                        <a:t>ICICI Bank</a:t>
                      </a:r>
                      <a:endParaRPr lang="en-US" sz="1200" dirty="0"/>
                    </a:p>
                  </a:txBody>
                  <a:tcPr anchor="ctr">
                    <a:lnL w="0" cap="flat" cmpd="sng" algn="ctr">
                      <a:noFill/>
                    </a:lnL>
                    <a:lnR w="0" cap="flat" cmpd="sng" algn="ctr">
                      <a:noFill/>
                    </a:lnR>
                    <a:lnT w="0" cap="flat" cmpd="sng" algn="ctr">
                      <a:noFill/>
                    </a:lnT>
                    <a:lnB w="0" cap="flat" cmpd="sng" algn="ctr">
                      <a:noFill/>
                    </a:lnB>
                    <a:solidFill>
                      <a:srgbClr val="F4F6FB"/>
                    </a:solidFill>
                  </a:tcPr>
                </a:tc>
                <a:tc>
                  <a:txBody>
                    <a:bodyPr/>
                    <a:lstStyle/>
                    <a:p>
                      <a:pPr marL="0" indent="0" algn="l">
                        <a:buNone/>
                      </a:pPr>
                      <a:r>
                        <a:rPr lang="en-US" sz="1200" dirty="0">
                          <a:solidFill>
                            <a:srgbClr val="1B1B2F"/>
                          </a:solidFill>
                        </a:rPr>
                        <a:t>12.84%</a:t>
                      </a:r>
                      <a:endParaRPr lang="en-US" sz="1200" dirty="0"/>
                    </a:p>
                  </a:txBody>
                  <a:tcPr anchor="ctr">
                    <a:lnL w="0" cap="flat" cmpd="sng" algn="ctr">
                      <a:noFill/>
                    </a:lnL>
                    <a:lnR w="0" cap="flat" cmpd="sng" algn="ctr">
                      <a:noFill/>
                    </a:lnR>
                    <a:lnT w="0" cap="flat" cmpd="sng" algn="ctr">
                      <a:noFill/>
                    </a:lnT>
                    <a:lnB w="0" cap="flat" cmpd="sng" algn="ctr">
                      <a:noFill/>
                    </a:lnB>
                    <a:solidFill>
                      <a:srgbClr val="F4F6FB"/>
                    </a:solidFill>
                  </a:tcPr>
                </a:tc>
                <a:extLst>
                  <a:ext uri="{0D108BD9-81ED-4DB2-BD59-A6C34878D82A}">
                    <a16:rowId xmlns:a16="http://schemas.microsoft.com/office/drawing/2014/main" val="10002"/>
                  </a:ext>
                </a:extLst>
              </a:tr>
              <a:tr h="388620">
                <a:tc>
                  <a:txBody>
                    <a:bodyPr/>
                    <a:lstStyle/>
                    <a:p>
                      <a:pPr marL="0" indent="0" algn="l">
                        <a:buNone/>
                      </a:pPr>
                      <a:r>
                        <a:rPr lang="en-US" sz="1200" dirty="0">
                          <a:solidFill>
                            <a:srgbClr val="1B1B2F"/>
                          </a:solidFill>
                        </a:rPr>
                        <a:t>Reliance Industries</a:t>
                      </a:r>
                      <a:endParaRPr lang="en-US" sz="1200" dirty="0"/>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200" dirty="0">
                          <a:solidFill>
                            <a:srgbClr val="1B1B2F"/>
                          </a:solidFill>
                        </a:rPr>
                        <a:t>6.62%</a:t>
                      </a:r>
                      <a:endParaRPr lang="en-US" sz="1200" dirty="0"/>
                    </a:p>
                  </a:txBody>
                  <a:tcPr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bl>
          </a:graphicData>
        </a:graphic>
      </p:graphicFrame>
      <p:sp>
        <p:nvSpPr>
          <p:cNvPr id="7" name="Text 3"/>
          <p:cNvSpPr/>
          <p:nvPr/>
        </p:nvSpPr>
        <p:spPr>
          <a:xfrm>
            <a:off x="7772400" y="3566160"/>
            <a:ext cx="3931920" cy="1463040"/>
          </a:xfrm>
          <a:prstGeom prst="rect">
            <a:avLst/>
          </a:prstGeom>
          <a:noFill/>
          <a:ln/>
        </p:spPr>
        <p:txBody>
          <a:bodyPr wrap="square" rtlCol="0" anchor="ctr"/>
          <a:lstStyle/>
          <a:p>
            <a:pPr marL="0" indent="0">
              <a:buNone/>
            </a:pPr>
            <a:r>
              <a:rPr lang="en-US" sz="1150" i="1" dirty="0">
                <a:solidFill>
                  <a:srgbClr val="1B1B2F"/>
                </a:solidFill>
                <a:latin typeface="Calibri" pitchFamily="34" charset="0"/>
                <a:ea typeface="Calibri" pitchFamily="34" charset="-122"/>
                <a:cs typeface="Calibri" pitchFamily="34" charset="-120"/>
              </a:rPr>
              <a:t>ICICI Bank delivered the highest and most consistent average return, while TCS lagged despite the sector's usual stability.</a:t>
            </a:r>
            <a:endParaRPr lang="en-US" sz="1150" dirty="0"/>
          </a:p>
        </p:txBody>
      </p:sp>
      <p:sp>
        <p:nvSpPr>
          <p:cNvPr id="8" name="Text 4"/>
          <p:cNvSpPr/>
          <p:nvPr/>
        </p:nvSpPr>
        <p:spPr>
          <a:xfrm>
            <a:off x="457200" y="6473952"/>
            <a:ext cx="7315200" cy="274320"/>
          </a:xfrm>
          <a:prstGeom prst="rect">
            <a:avLst/>
          </a:prstGeom>
          <a:noFill/>
          <a:ln/>
        </p:spPr>
        <p:txBody>
          <a:bodyPr wrap="square"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Risk and Return Analysis in Equities  |  Ventura Securities Ltd</a:t>
            </a:r>
            <a:endParaRPr lang="en-US" sz="900" dirty="0"/>
          </a:p>
        </p:txBody>
      </p:sp>
      <p:sp>
        <p:nvSpPr>
          <p:cNvPr id="6" name="Text 5"/>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5486400" cy="274320"/>
          </a:xfrm>
          <a:prstGeom prst="rect">
            <a:avLst/>
          </a:prstGeom>
          <a:noFill/>
          <a:ln/>
        </p:spPr>
        <p:txBody>
          <a:bodyPr wrap="square"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CHAPTER 4 · DATA ANALYSIS</a:t>
            </a:r>
            <a:endParaRPr lang="en-US" sz="1200" dirty="0"/>
          </a:p>
        </p:txBody>
      </p:sp>
      <p:sp>
        <p:nvSpPr>
          <p:cNvPr id="3" name="Text 1"/>
          <p:cNvSpPr/>
          <p:nvPr/>
        </p:nvSpPr>
        <p:spPr>
          <a:xfrm>
            <a:off x="548640" y="365760"/>
            <a:ext cx="11091672" cy="7315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Risk Analysis — Standard Deviation</a:t>
            </a:r>
            <a:endParaRPr lang="en-US" sz="3000" dirty="0"/>
          </a:p>
        </p:txBody>
      </p:sp>
      <p:graphicFrame>
        <p:nvGraphicFramePr>
          <p:cNvPr id="4" name="Chart 0"/>
          <p:cNvGraphicFramePr/>
          <p:nvPr/>
        </p:nvGraphicFramePr>
        <p:xfrm>
          <a:off x="548640" y="1371600"/>
          <a:ext cx="5852160" cy="41148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720840" y="1463040"/>
          <a:ext cx="4937760" cy="1737360"/>
        </p:xfrm>
        <a:graphic>
          <a:graphicData uri="http://schemas.openxmlformats.org/drawingml/2006/table">
            <a:tbl>
              <a:tblPr/>
              <a:tblGrid>
                <a:gridCol w="15544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434340">
                <a:tc>
                  <a:txBody>
                    <a:bodyPr/>
                    <a:lstStyle/>
                    <a:p>
                      <a:pPr marL="0" indent="0" algn="ctr">
                        <a:buNone/>
                      </a:pPr>
                      <a:r>
                        <a:rPr lang="en-US" sz="1150" b="1" dirty="0">
                          <a:solidFill>
                            <a:srgbClr val="FFFFFF"/>
                          </a:solidFill>
                        </a:rPr>
                        <a:t>Company</a:t>
                      </a:r>
                      <a:endParaRPr lang="en-US" sz="1150" dirty="0"/>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150" b="1" dirty="0">
                          <a:solidFill>
                            <a:srgbClr val="FFFFFF"/>
                          </a:solidFill>
                        </a:rPr>
                        <a:t>Avg. Return</a:t>
                      </a:r>
                      <a:endParaRPr lang="en-US" sz="1150" dirty="0"/>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150" b="1" dirty="0">
                          <a:solidFill>
                            <a:srgbClr val="FFFFFF"/>
                          </a:solidFill>
                        </a:rPr>
                        <a:t>Std. Dev.</a:t>
                      </a:r>
                      <a:endParaRPr lang="en-US" sz="1150" dirty="0"/>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150" b="1" dirty="0">
                          <a:solidFill>
                            <a:srgbClr val="FFFFFF"/>
                          </a:solidFill>
                        </a:rPr>
                        <a:t>Risk Level</a:t>
                      </a:r>
                      <a:endParaRPr lang="en-US" sz="1150" dirty="0"/>
                    </a:p>
                  </a:txBody>
                  <a:tcPr anchor="ctr">
                    <a:lnL w="0" cap="flat" cmpd="sng" algn="ctr">
                      <a:noFill/>
                    </a:lnL>
                    <a:lnR w="0" cap="flat" cmpd="sng" algn="ctr">
                      <a:noFill/>
                    </a:lnR>
                    <a:lnT w="0" cap="flat" cmpd="sng" algn="ctr">
                      <a:noFill/>
                    </a:lnT>
                    <a:lnB w="0" cap="flat" cmpd="sng" algn="ctr">
                      <a:noFill/>
                    </a:lnB>
                    <a:solidFill>
                      <a:srgbClr val="1E2761"/>
                    </a:solidFill>
                  </a:tcPr>
                </a:tc>
                <a:extLst>
                  <a:ext uri="{0D108BD9-81ED-4DB2-BD59-A6C34878D82A}">
                    <a16:rowId xmlns:a16="http://schemas.microsoft.com/office/drawing/2014/main" val="10000"/>
                  </a:ext>
                </a:extLst>
              </a:tr>
              <a:tr h="434340">
                <a:tc>
                  <a:txBody>
                    <a:bodyPr/>
                    <a:lstStyle/>
                    <a:p>
                      <a:pPr marL="0" indent="0" algn="ctr">
                        <a:buNone/>
                      </a:pPr>
                      <a:r>
                        <a:rPr lang="en-US" sz="1150" dirty="0">
                          <a:solidFill>
                            <a:srgbClr val="1B1B2F"/>
                          </a:solidFill>
                        </a:rPr>
                        <a:t>TCS</a:t>
                      </a:r>
                      <a:endParaRPr lang="en-US" sz="1150" dirty="0"/>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50" dirty="0">
                          <a:solidFill>
                            <a:srgbClr val="1B1B2F"/>
                          </a:solidFill>
                        </a:rPr>
                        <a:t>1.76%</a:t>
                      </a:r>
                      <a:endParaRPr lang="en-US" sz="1150" dirty="0"/>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50" dirty="0">
                          <a:solidFill>
                            <a:srgbClr val="1B1B2F"/>
                          </a:solidFill>
                        </a:rPr>
                        <a:t>20.07%</a:t>
                      </a:r>
                      <a:endParaRPr lang="en-US" sz="1150" dirty="0"/>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50" dirty="0">
                          <a:solidFill>
                            <a:srgbClr val="1B1B2F"/>
                          </a:solidFill>
                        </a:rPr>
                        <a:t>High</a:t>
                      </a:r>
                      <a:endParaRPr lang="en-US" sz="1150" dirty="0"/>
                    </a:p>
                  </a:txBody>
                  <a:tcPr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434340">
                <a:tc>
                  <a:txBody>
                    <a:bodyPr/>
                    <a:lstStyle/>
                    <a:p>
                      <a:pPr marL="0" indent="0" algn="ctr">
                        <a:buNone/>
                      </a:pPr>
                      <a:r>
                        <a:rPr lang="en-US" sz="1150" dirty="0">
                          <a:solidFill>
                            <a:srgbClr val="1B1B2F"/>
                          </a:solidFill>
                        </a:rPr>
                        <a:t>ICICI Bank</a:t>
                      </a:r>
                      <a:endParaRPr lang="en-US" sz="1150" dirty="0"/>
                    </a:p>
                  </a:txBody>
                  <a:tcPr anchor="ctr">
                    <a:lnL w="0" cap="flat" cmpd="sng" algn="ctr">
                      <a:noFill/>
                    </a:lnL>
                    <a:lnR w="0" cap="flat" cmpd="sng" algn="ctr">
                      <a:noFill/>
                    </a:lnR>
                    <a:lnT w="0" cap="flat" cmpd="sng" algn="ctr">
                      <a:noFill/>
                    </a:lnT>
                    <a:lnB w="0" cap="flat" cmpd="sng" algn="ctr">
                      <a:noFill/>
                    </a:lnB>
                    <a:solidFill>
                      <a:srgbClr val="F4F6FB"/>
                    </a:solidFill>
                  </a:tcPr>
                </a:tc>
                <a:tc>
                  <a:txBody>
                    <a:bodyPr/>
                    <a:lstStyle/>
                    <a:p>
                      <a:pPr marL="0" indent="0" algn="ctr">
                        <a:buNone/>
                      </a:pPr>
                      <a:r>
                        <a:rPr lang="en-US" sz="1150" dirty="0">
                          <a:solidFill>
                            <a:srgbClr val="1B1B2F"/>
                          </a:solidFill>
                        </a:rPr>
                        <a:t>12.84%</a:t>
                      </a:r>
                      <a:endParaRPr lang="en-US" sz="1150" dirty="0"/>
                    </a:p>
                  </a:txBody>
                  <a:tcPr anchor="ctr">
                    <a:lnL w="0" cap="flat" cmpd="sng" algn="ctr">
                      <a:noFill/>
                    </a:lnL>
                    <a:lnR w="0" cap="flat" cmpd="sng" algn="ctr">
                      <a:noFill/>
                    </a:lnR>
                    <a:lnT w="0" cap="flat" cmpd="sng" algn="ctr">
                      <a:noFill/>
                    </a:lnT>
                    <a:lnB w="0" cap="flat" cmpd="sng" algn="ctr">
                      <a:noFill/>
                    </a:lnB>
                    <a:solidFill>
                      <a:srgbClr val="F4F6FB"/>
                    </a:solidFill>
                  </a:tcPr>
                </a:tc>
                <a:tc>
                  <a:txBody>
                    <a:bodyPr/>
                    <a:lstStyle/>
                    <a:p>
                      <a:pPr marL="0" indent="0" algn="ctr">
                        <a:buNone/>
                      </a:pPr>
                      <a:r>
                        <a:rPr lang="en-US" sz="1150" dirty="0">
                          <a:solidFill>
                            <a:srgbClr val="1B1B2F"/>
                          </a:solidFill>
                        </a:rPr>
                        <a:t>13.90%</a:t>
                      </a:r>
                      <a:endParaRPr lang="en-US" sz="1150" dirty="0"/>
                    </a:p>
                  </a:txBody>
                  <a:tcPr anchor="ctr">
                    <a:lnL w="0" cap="flat" cmpd="sng" algn="ctr">
                      <a:noFill/>
                    </a:lnL>
                    <a:lnR w="0" cap="flat" cmpd="sng" algn="ctr">
                      <a:noFill/>
                    </a:lnR>
                    <a:lnT w="0" cap="flat" cmpd="sng" algn="ctr">
                      <a:noFill/>
                    </a:lnT>
                    <a:lnB w="0" cap="flat" cmpd="sng" algn="ctr">
                      <a:noFill/>
                    </a:lnB>
                    <a:solidFill>
                      <a:srgbClr val="F4F6FB"/>
                    </a:solidFill>
                  </a:tcPr>
                </a:tc>
                <a:tc>
                  <a:txBody>
                    <a:bodyPr/>
                    <a:lstStyle/>
                    <a:p>
                      <a:pPr marL="0" indent="0" algn="ctr">
                        <a:buNone/>
                      </a:pPr>
                      <a:r>
                        <a:rPr lang="en-US" sz="1150" dirty="0">
                          <a:solidFill>
                            <a:srgbClr val="1B1B2F"/>
                          </a:solidFill>
                        </a:rPr>
                        <a:t>Moderate</a:t>
                      </a:r>
                      <a:endParaRPr lang="en-US" sz="1150" dirty="0"/>
                    </a:p>
                  </a:txBody>
                  <a:tcPr anchor="ctr">
                    <a:lnL w="0" cap="flat" cmpd="sng" algn="ctr">
                      <a:noFill/>
                    </a:lnL>
                    <a:lnR w="0" cap="flat" cmpd="sng" algn="ctr">
                      <a:noFill/>
                    </a:lnR>
                    <a:lnT w="0" cap="flat" cmpd="sng" algn="ctr">
                      <a:noFill/>
                    </a:lnT>
                    <a:lnB w="0" cap="flat" cmpd="sng" algn="ctr">
                      <a:noFill/>
                    </a:lnB>
                    <a:solidFill>
                      <a:srgbClr val="F4F6FB"/>
                    </a:solidFill>
                  </a:tcPr>
                </a:tc>
                <a:extLst>
                  <a:ext uri="{0D108BD9-81ED-4DB2-BD59-A6C34878D82A}">
                    <a16:rowId xmlns:a16="http://schemas.microsoft.com/office/drawing/2014/main" val="10002"/>
                  </a:ext>
                </a:extLst>
              </a:tr>
              <a:tr h="434340">
                <a:tc>
                  <a:txBody>
                    <a:bodyPr/>
                    <a:lstStyle/>
                    <a:p>
                      <a:pPr marL="0" indent="0" algn="ctr">
                        <a:buNone/>
                      </a:pPr>
                      <a:r>
                        <a:rPr lang="en-US" sz="1150" dirty="0">
                          <a:solidFill>
                            <a:srgbClr val="1B1B2F"/>
                          </a:solidFill>
                        </a:rPr>
                        <a:t>Reliance Ind.</a:t>
                      </a:r>
                      <a:endParaRPr lang="en-US" sz="1150" dirty="0"/>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50" dirty="0">
                          <a:solidFill>
                            <a:srgbClr val="1B1B2F"/>
                          </a:solidFill>
                        </a:rPr>
                        <a:t>6.62%</a:t>
                      </a:r>
                      <a:endParaRPr lang="en-US" sz="1150" dirty="0"/>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50" dirty="0">
                          <a:solidFill>
                            <a:srgbClr val="1B1B2F"/>
                          </a:solidFill>
                        </a:rPr>
                        <a:t>21.92%</a:t>
                      </a:r>
                      <a:endParaRPr lang="en-US" sz="1150" dirty="0"/>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50" dirty="0">
                          <a:solidFill>
                            <a:srgbClr val="1B1B2F"/>
                          </a:solidFill>
                        </a:rPr>
                        <a:t>High</a:t>
                      </a:r>
                      <a:endParaRPr lang="en-US" sz="1150" dirty="0"/>
                    </a:p>
                  </a:txBody>
                  <a:tcPr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bl>
          </a:graphicData>
        </a:graphic>
      </p:graphicFrame>
      <p:sp>
        <p:nvSpPr>
          <p:cNvPr id="6" name="Text 2"/>
          <p:cNvSpPr/>
          <p:nvPr/>
        </p:nvSpPr>
        <p:spPr>
          <a:xfrm>
            <a:off x="6720840" y="3429000"/>
            <a:ext cx="4937760" cy="914400"/>
          </a:xfrm>
          <a:prstGeom prst="rect">
            <a:avLst/>
          </a:prstGeom>
          <a:noFill/>
          <a:ln/>
        </p:spPr>
        <p:txBody>
          <a:bodyPr wrap="square" rtlCol="0" anchor="ctr"/>
          <a:lstStyle/>
          <a:p>
            <a:pPr marL="0" indent="0">
              <a:buNone/>
            </a:pPr>
            <a:r>
              <a:rPr lang="en-US" sz="1200" dirty="0">
                <a:solidFill>
                  <a:srgbClr val="1B1B2F"/>
                </a:solidFill>
                <a:latin typeface="Calibri" pitchFamily="34" charset="0"/>
                <a:ea typeface="Calibri" pitchFamily="34" charset="-122"/>
                <a:cs typeface="Calibri" pitchFamily="34" charset="-120"/>
              </a:rPr>
              <a:t>Reliance Industries carries the highest volatility, followed closely by TCS. ICICI Bank shows comparatively stable, lower-risk performance.</a:t>
            </a:r>
            <a:endParaRPr lang="en-US" sz="1200" dirty="0"/>
          </a:p>
        </p:txBody>
      </p:sp>
      <p:sp>
        <p:nvSpPr>
          <p:cNvPr id="7" name="Text 3"/>
          <p:cNvSpPr/>
          <p:nvPr/>
        </p:nvSpPr>
        <p:spPr>
          <a:xfrm>
            <a:off x="6720840" y="4434840"/>
            <a:ext cx="4937760" cy="100584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Higher risk does not always translate to higher return — TCS combines high risk with the lowest average return among the three.</a:t>
            </a:r>
            <a:endParaRPr lang="en-US" sz="1200" dirty="0"/>
          </a:p>
        </p:txBody>
      </p:sp>
      <p:sp>
        <p:nvSpPr>
          <p:cNvPr id="8" name="Text 4"/>
          <p:cNvSpPr/>
          <p:nvPr/>
        </p:nvSpPr>
        <p:spPr>
          <a:xfrm>
            <a:off x="457200" y="6473952"/>
            <a:ext cx="7315200" cy="274320"/>
          </a:xfrm>
          <a:prstGeom prst="rect">
            <a:avLst/>
          </a:prstGeom>
          <a:noFill/>
          <a:ln/>
        </p:spPr>
        <p:txBody>
          <a:bodyPr wrap="square"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Risk and Return Analysis in Equities  |  Ventura Securities Ltd</a:t>
            </a:r>
            <a:endParaRPr lang="en-US" sz="900" dirty="0"/>
          </a:p>
        </p:txBody>
      </p:sp>
      <p:sp>
        <p:nvSpPr>
          <p:cNvPr id="9" name="Text 5"/>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5486400" cy="274320"/>
          </a:xfrm>
          <a:prstGeom prst="rect">
            <a:avLst/>
          </a:prstGeom>
          <a:noFill/>
          <a:ln/>
        </p:spPr>
        <p:txBody>
          <a:bodyPr wrap="square"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CHAPTER 4 · DATA ANALYSIS</a:t>
            </a:r>
            <a:endParaRPr lang="en-US" sz="1200" dirty="0"/>
          </a:p>
        </p:txBody>
      </p:sp>
      <p:sp>
        <p:nvSpPr>
          <p:cNvPr id="3" name="Text 1"/>
          <p:cNvSpPr/>
          <p:nvPr/>
        </p:nvSpPr>
        <p:spPr>
          <a:xfrm>
            <a:off x="548640" y="365760"/>
            <a:ext cx="11091672" cy="7315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Risk vs. Return — Comparative View</a:t>
            </a:r>
            <a:endParaRPr lang="en-US" sz="3000" dirty="0"/>
          </a:p>
        </p:txBody>
      </p:sp>
      <p:graphicFrame>
        <p:nvGraphicFramePr>
          <p:cNvPr id="4" name="Chart 0"/>
          <p:cNvGraphicFramePr/>
          <p:nvPr/>
        </p:nvGraphicFramePr>
        <p:xfrm>
          <a:off x="822960" y="1371600"/>
          <a:ext cx="1051560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822960" y="5989320"/>
            <a:ext cx="10515600" cy="457200"/>
          </a:xfrm>
          <a:prstGeom prst="rect">
            <a:avLst/>
          </a:prstGeom>
          <a:noFill/>
          <a:ln/>
        </p:spPr>
        <p:txBody>
          <a:bodyPr wrap="square" rtlCol="0" anchor="ctr"/>
          <a:lstStyle/>
          <a:p>
            <a:pPr marL="0" indent="0">
              <a:buNone/>
            </a:pPr>
            <a:r>
              <a:rPr lang="en-US" sz="1250" i="1" dirty="0">
                <a:solidFill>
                  <a:srgbClr val="6B7280"/>
                </a:solidFill>
                <a:latin typeface="Calibri" pitchFamily="34" charset="0"/>
                <a:ea typeface="Calibri" pitchFamily="34" charset="-122"/>
                <a:cs typeface="Calibri" pitchFamily="34" charset="-120"/>
              </a:rPr>
              <a:t>ICICI Bank stands out with the highest return and lowest risk — the most balanced risk-return profile among the three equities.</a:t>
            </a:r>
            <a:endParaRPr lang="en-US" sz="1250" dirty="0"/>
          </a:p>
        </p:txBody>
      </p:sp>
      <p:sp>
        <p:nvSpPr>
          <p:cNvPr id="6" name="Text 3"/>
          <p:cNvSpPr/>
          <p:nvPr/>
        </p:nvSpPr>
        <p:spPr>
          <a:xfrm>
            <a:off x="457200" y="6473952"/>
            <a:ext cx="7315200" cy="274320"/>
          </a:xfrm>
          <a:prstGeom prst="rect">
            <a:avLst/>
          </a:prstGeom>
          <a:noFill/>
          <a:ln/>
        </p:spPr>
        <p:txBody>
          <a:bodyPr wrap="square"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Risk and Return Analysis in Equities  |  Ventura Securities Ltd</a:t>
            </a:r>
            <a:endParaRPr lang="en-US" sz="900" dirty="0"/>
          </a:p>
        </p:txBody>
      </p:sp>
      <p:sp>
        <p:nvSpPr>
          <p:cNvPr id="7" name="Text 4"/>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5486400" cy="274320"/>
          </a:xfrm>
          <a:prstGeom prst="rect">
            <a:avLst/>
          </a:prstGeom>
          <a:noFill/>
          <a:ln/>
        </p:spPr>
        <p:txBody>
          <a:bodyPr wrap="square"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CHAPTER 4 · DATA ANALYSIS</a:t>
            </a:r>
            <a:endParaRPr lang="en-US" sz="1200" dirty="0"/>
          </a:p>
        </p:txBody>
      </p:sp>
      <p:sp>
        <p:nvSpPr>
          <p:cNvPr id="3" name="Text 1"/>
          <p:cNvSpPr/>
          <p:nvPr/>
        </p:nvSpPr>
        <p:spPr>
          <a:xfrm>
            <a:off x="548640" y="365760"/>
            <a:ext cx="11091672" cy="7315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Covariance Analysis</a:t>
            </a:r>
            <a:endParaRPr lang="en-US" sz="3000" dirty="0"/>
          </a:p>
        </p:txBody>
      </p:sp>
      <p:sp>
        <p:nvSpPr>
          <p:cNvPr id="4" name="Text 2"/>
          <p:cNvSpPr/>
          <p:nvPr/>
        </p:nvSpPr>
        <p:spPr>
          <a:xfrm>
            <a:off x="548640" y="1234440"/>
            <a:ext cx="11091672" cy="457200"/>
          </a:xfrm>
          <a:prstGeom prst="rect">
            <a:avLst/>
          </a:prstGeom>
          <a:noFill/>
          <a:ln/>
        </p:spPr>
        <p:txBody>
          <a:bodyPr wrap="square" rtlCol="0" anchor="ctr"/>
          <a:lstStyle/>
          <a:p>
            <a:pPr marL="0" indent="0">
              <a:buNone/>
            </a:pPr>
            <a:r>
              <a:rPr lang="en-US" sz="1300" dirty="0">
                <a:solidFill>
                  <a:srgbClr val="1B1B2F"/>
                </a:solidFill>
                <a:latin typeface="Calibri" pitchFamily="34" charset="0"/>
                <a:ea typeface="Calibri" pitchFamily="34" charset="-122"/>
                <a:cs typeface="Calibri" pitchFamily="34" charset="-120"/>
              </a:rPr>
              <a:t>Covariance shows whether the returns of two stocks move in the same or opposite direction.</a:t>
            </a:r>
            <a:endParaRPr lang="en-US" sz="1300" dirty="0"/>
          </a:p>
        </p:txBody>
      </p:sp>
      <p:sp>
        <p:nvSpPr>
          <p:cNvPr id="5" name="Shape 3"/>
          <p:cNvSpPr/>
          <p:nvPr/>
        </p:nvSpPr>
        <p:spPr>
          <a:xfrm>
            <a:off x="548640" y="1965960"/>
            <a:ext cx="3520440" cy="3566160"/>
          </a:xfrm>
          <a:prstGeom prst="roundRect">
            <a:avLst>
              <a:gd name="adj" fmla="val 2597"/>
            </a:avLst>
          </a:prstGeom>
          <a:solidFill>
            <a:srgbClr val="F4F6FB"/>
          </a:solidFill>
          <a:ln/>
        </p:spPr>
      </p:sp>
      <p:sp>
        <p:nvSpPr>
          <p:cNvPr id="6" name="Text 4"/>
          <p:cNvSpPr/>
          <p:nvPr/>
        </p:nvSpPr>
        <p:spPr>
          <a:xfrm>
            <a:off x="822960" y="2194560"/>
            <a:ext cx="2971800" cy="640080"/>
          </a:xfrm>
          <a:prstGeom prst="rect">
            <a:avLst/>
          </a:prstGeom>
          <a:noFill/>
          <a:ln/>
        </p:spPr>
        <p:txBody>
          <a:bodyPr wrap="square"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TCS &amp; ICICI Bank</a:t>
            </a:r>
            <a:endParaRPr lang="en-US" sz="1400" dirty="0"/>
          </a:p>
        </p:txBody>
      </p:sp>
      <p:sp>
        <p:nvSpPr>
          <p:cNvPr id="7" name="Text 5"/>
          <p:cNvSpPr/>
          <p:nvPr/>
        </p:nvSpPr>
        <p:spPr>
          <a:xfrm>
            <a:off x="822960" y="2880360"/>
            <a:ext cx="2971800" cy="1005840"/>
          </a:xfrm>
          <a:prstGeom prst="rect">
            <a:avLst/>
          </a:prstGeom>
          <a:noFill/>
          <a:ln/>
        </p:spPr>
        <p:txBody>
          <a:bodyPr wrap="square" rtlCol="0" anchor="ctr"/>
          <a:lstStyle/>
          <a:p>
            <a:pPr marL="0" indent="0">
              <a:buNone/>
            </a:pPr>
            <a:r>
              <a:rPr lang="en-US" sz="4000" b="1" dirty="0">
                <a:solidFill>
                  <a:srgbClr val="D9A441"/>
                </a:solidFill>
                <a:latin typeface="Cambria" pitchFamily="34" charset="0"/>
                <a:ea typeface="Cambria" pitchFamily="34" charset="-122"/>
                <a:cs typeface="Cambria" pitchFamily="34" charset="-120"/>
              </a:rPr>
              <a:t>229.88</a:t>
            </a:r>
            <a:endParaRPr lang="en-US" sz="4000" dirty="0"/>
          </a:p>
        </p:txBody>
      </p:sp>
      <p:sp>
        <p:nvSpPr>
          <p:cNvPr id="8" name="Text 6"/>
          <p:cNvSpPr/>
          <p:nvPr/>
        </p:nvSpPr>
        <p:spPr>
          <a:xfrm>
            <a:off x="822960" y="3977640"/>
            <a:ext cx="2971800" cy="1188720"/>
          </a:xfrm>
          <a:prstGeom prst="rect">
            <a:avLst/>
          </a:prstGeom>
          <a:noFill/>
          <a:ln/>
        </p:spPr>
        <p:txBody>
          <a:bodyPr wrap="square" rtlCol="0" anchor="ctr"/>
          <a:lstStyle/>
          <a:p>
            <a:pPr marL="0" indent="0">
              <a:buNone/>
            </a:pPr>
            <a:r>
              <a:rPr lang="en-US" sz="1200" dirty="0">
                <a:solidFill>
                  <a:srgbClr val="1B1B2F"/>
                </a:solidFill>
                <a:latin typeface="Calibri" pitchFamily="34" charset="0"/>
                <a:ea typeface="Calibri" pitchFamily="34" charset="-122"/>
                <a:cs typeface="Calibri" pitchFamily="34" charset="-120"/>
              </a:rPr>
              <a:t>Positive — returns generally move together</a:t>
            </a:r>
            <a:endParaRPr lang="en-US" sz="1200" dirty="0"/>
          </a:p>
        </p:txBody>
      </p:sp>
      <p:sp>
        <p:nvSpPr>
          <p:cNvPr id="9" name="Shape 7"/>
          <p:cNvSpPr/>
          <p:nvPr/>
        </p:nvSpPr>
        <p:spPr>
          <a:xfrm>
            <a:off x="4434840" y="1965960"/>
            <a:ext cx="3520440" cy="3566160"/>
          </a:xfrm>
          <a:prstGeom prst="roundRect">
            <a:avLst>
              <a:gd name="adj" fmla="val 2597"/>
            </a:avLst>
          </a:prstGeom>
          <a:solidFill>
            <a:srgbClr val="F4F6FB"/>
          </a:solidFill>
          <a:ln/>
        </p:spPr>
      </p:sp>
      <p:sp>
        <p:nvSpPr>
          <p:cNvPr id="10" name="Text 8"/>
          <p:cNvSpPr/>
          <p:nvPr/>
        </p:nvSpPr>
        <p:spPr>
          <a:xfrm>
            <a:off x="4709160" y="2194560"/>
            <a:ext cx="2971800" cy="640080"/>
          </a:xfrm>
          <a:prstGeom prst="rect">
            <a:avLst/>
          </a:prstGeom>
          <a:noFill/>
          <a:ln/>
        </p:spPr>
        <p:txBody>
          <a:bodyPr wrap="square"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ICICI Bank &amp; Reliance</a:t>
            </a:r>
            <a:endParaRPr lang="en-US" sz="1400" dirty="0"/>
          </a:p>
        </p:txBody>
      </p:sp>
      <p:sp>
        <p:nvSpPr>
          <p:cNvPr id="11" name="Text 9"/>
          <p:cNvSpPr/>
          <p:nvPr/>
        </p:nvSpPr>
        <p:spPr>
          <a:xfrm>
            <a:off x="4709160" y="2880360"/>
            <a:ext cx="2971800" cy="1005840"/>
          </a:xfrm>
          <a:prstGeom prst="rect">
            <a:avLst/>
          </a:prstGeom>
          <a:noFill/>
          <a:ln/>
        </p:spPr>
        <p:txBody>
          <a:bodyPr wrap="square" rtlCol="0" anchor="ctr"/>
          <a:lstStyle/>
          <a:p>
            <a:pPr marL="0" indent="0">
              <a:buNone/>
            </a:pPr>
            <a:r>
              <a:rPr lang="en-US" sz="4000" b="1" dirty="0">
                <a:solidFill>
                  <a:srgbClr val="D9A441"/>
                </a:solidFill>
                <a:latin typeface="Cambria" pitchFamily="34" charset="0"/>
                <a:ea typeface="Cambria" pitchFamily="34" charset="-122"/>
                <a:cs typeface="Cambria" pitchFamily="34" charset="-120"/>
              </a:rPr>
              <a:t>97.35</a:t>
            </a:r>
            <a:endParaRPr lang="en-US" sz="4000" dirty="0"/>
          </a:p>
        </p:txBody>
      </p:sp>
      <p:sp>
        <p:nvSpPr>
          <p:cNvPr id="12" name="Text 10"/>
          <p:cNvSpPr/>
          <p:nvPr/>
        </p:nvSpPr>
        <p:spPr>
          <a:xfrm>
            <a:off x="4709160" y="3977640"/>
            <a:ext cx="2971800" cy="1188720"/>
          </a:xfrm>
          <a:prstGeom prst="rect">
            <a:avLst/>
          </a:prstGeom>
          <a:noFill/>
          <a:ln/>
        </p:spPr>
        <p:txBody>
          <a:bodyPr wrap="square" rtlCol="0" anchor="ctr"/>
          <a:lstStyle/>
          <a:p>
            <a:pPr marL="0" indent="0">
              <a:buNone/>
            </a:pPr>
            <a:r>
              <a:rPr lang="en-US" sz="1200" dirty="0">
                <a:solidFill>
                  <a:srgbClr val="1B1B2F"/>
                </a:solidFill>
                <a:latin typeface="Calibri" pitchFamily="34" charset="0"/>
                <a:ea typeface="Calibri" pitchFamily="34" charset="-122"/>
                <a:cs typeface="Calibri" pitchFamily="34" charset="-120"/>
              </a:rPr>
              <a:t>Positive but weaker co-movement</a:t>
            </a:r>
            <a:endParaRPr lang="en-US" sz="1200" dirty="0"/>
          </a:p>
        </p:txBody>
      </p:sp>
      <p:sp>
        <p:nvSpPr>
          <p:cNvPr id="13" name="Shape 11"/>
          <p:cNvSpPr/>
          <p:nvPr/>
        </p:nvSpPr>
        <p:spPr>
          <a:xfrm>
            <a:off x="8321040" y="1965960"/>
            <a:ext cx="3520440" cy="3566160"/>
          </a:xfrm>
          <a:prstGeom prst="roundRect">
            <a:avLst>
              <a:gd name="adj" fmla="val 2597"/>
            </a:avLst>
          </a:prstGeom>
          <a:solidFill>
            <a:srgbClr val="F4F6FB"/>
          </a:solidFill>
          <a:ln/>
        </p:spPr>
      </p:sp>
      <p:sp>
        <p:nvSpPr>
          <p:cNvPr id="14" name="Text 12"/>
          <p:cNvSpPr/>
          <p:nvPr/>
        </p:nvSpPr>
        <p:spPr>
          <a:xfrm>
            <a:off x="8595360" y="2194560"/>
            <a:ext cx="2971800" cy="640080"/>
          </a:xfrm>
          <a:prstGeom prst="rect">
            <a:avLst/>
          </a:prstGeom>
          <a:noFill/>
          <a:ln/>
        </p:spPr>
        <p:txBody>
          <a:bodyPr wrap="square"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TCS &amp; Reliance Industries</a:t>
            </a:r>
            <a:endParaRPr lang="en-US" sz="1400" dirty="0"/>
          </a:p>
        </p:txBody>
      </p:sp>
      <p:sp>
        <p:nvSpPr>
          <p:cNvPr id="15" name="Text 13"/>
          <p:cNvSpPr/>
          <p:nvPr/>
        </p:nvSpPr>
        <p:spPr>
          <a:xfrm>
            <a:off x="8595360" y="2880360"/>
            <a:ext cx="2971800" cy="1005840"/>
          </a:xfrm>
          <a:prstGeom prst="rect">
            <a:avLst/>
          </a:prstGeom>
          <a:noFill/>
          <a:ln/>
        </p:spPr>
        <p:txBody>
          <a:bodyPr wrap="square" rtlCol="0" anchor="ctr"/>
          <a:lstStyle/>
          <a:p>
            <a:pPr marL="0" indent="0">
              <a:buNone/>
            </a:pPr>
            <a:r>
              <a:rPr lang="en-US" sz="4000" b="1" dirty="0">
                <a:solidFill>
                  <a:srgbClr val="D9A441"/>
                </a:solidFill>
                <a:latin typeface="Cambria" pitchFamily="34" charset="0"/>
                <a:ea typeface="Cambria" pitchFamily="34" charset="-122"/>
                <a:cs typeface="Cambria" pitchFamily="34" charset="-120"/>
              </a:rPr>
              <a:t>351.75</a:t>
            </a:r>
            <a:endParaRPr lang="en-US" sz="4000" dirty="0"/>
          </a:p>
        </p:txBody>
      </p:sp>
      <p:sp>
        <p:nvSpPr>
          <p:cNvPr id="16" name="Text 14"/>
          <p:cNvSpPr/>
          <p:nvPr/>
        </p:nvSpPr>
        <p:spPr>
          <a:xfrm>
            <a:off x="8595360" y="3977640"/>
            <a:ext cx="2971800" cy="1188720"/>
          </a:xfrm>
          <a:prstGeom prst="rect">
            <a:avLst/>
          </a:prstGeom>
          <a:noFill/>
          <a:ln/>
        </p:spPr>
        <p:txBody>
          <a:bodyPr wrap="square" rtlCol="0" anchor="ctr"/>
          <a:lstStyle/>
          <a:p>
            <a:pPr marL="0" indent="0">
              <a:buNone/>
            </a:pPr>
            <a:r>
              <a:rPr lang="en-US" sz="1200" dirty="0">
                <a:solidFill>
                  <a:srgbClr val="1B1B2F"/>
                </a:solidFill>
                <a:latin typeface="Calibri" pitchFamily="34" charset="0"/>
                <a:ea typeface="Calibri" pitchFamily="34" charset="-122"/>
                <a:cs typeface="Calibri" pitchFamily="34" charset="-120"/>
              </a:rPr>
              <a:t>Positive — strongest joint movement</a:t>
            </a:r>
            <a:endParaRPr lang="en-US" sz="1200" dirty="0"/>
          </a:p>
        </p:txBody>
      </p:sp>
      <p:sp>
        <p:nvSpPr>
          <p:cNvPr id="17" name="Text 15"/>
          <p:cNvSpPr/>
          <p:nvPr/>
        </p:nvSpPr>
        <p:spPr>
          <a:xfrm>
            <a:off x="548640" y="5760720"/>
            <a:ext cx="11091672" cy="45720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All three stock pairs show positive covariance — their returns tend to rise and fall together during the study period.</a:t>
            </a:r>
            <a:endParaRPr lang="en-US" sz="1200" dirty="0"/>
          </a:p>
        </p:txBody>
      </p:sp>
      <p:sp>
        <p:nvSpPr>
          <p:cNvPr id="18" name="Text 16"/>
          <p:cNvSpPr/>
          <p:nvPr/>
        </p:nvSpPr>
        <p:spPr>
          <a:xfrm>
            <a:off x="457200" y="6473952"/>
            <a:ext cx="7315200" cy="274320"/>
          </a:xfrm>
          <a:prstGeom prst="rect">
            <a:avLst/>
          </a:prstGeom>
          <a:noFill/>
          <a:ln/>
        </p:spPr>
        <p:txBody>
          <a:bodyPr wrap="square"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Risk and Return Analysis in Equities  |  Ventura Securities Ltd</a:t>
            </a:r>
            <a:endParaRPr lang="en-US" sz="900" dirty="0"/>
          </a:p>
        </p:txBody>
      </p:sp>
      <p:sp>
        <p:nvSpPr>
          <p:cNvPr id="19" name="Text 17"/>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5486400" cy="274320"/>
          </a:xfrm>
          <a:prstGeom prst="rect">
            <a:avLst/>
          </a:prstGeom>
          <a:noFill/>
          <a:ln/>
        </p:spPr>
        <p:txBody>
          <a:bodyPr wrap="square"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CHAPTER 4 · DATA ANALYSIS</a:t>
            </a:r>
            <a:endParaRPr lang="en-US" sz="1200" dirty="0"/>
          </a:p>
        </p:txBody>
      </p:sp>
      <p:sp>
        <p:nvSpPr>
          <p:cNvPr id="3" name="Text 1"/>
          <p:cNvSpPr/>
          <p:nvPr/>
        </p:nvSpPr>
        <p:spPr>
          <a:xfrm>
            <a:off x="548640" y="365760"/>
            <a:ext cx="11091672" cy="7315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Correlation Analysis</a:t>
            </a:r>
            <a:endParaRPr lang="en-US" sz="3000" dirty="0"/>
          </a:p>
        </p:txBody>
      </p:sp>
      <p:graphicFrame>
        <p:nvGraphicFramePr>
          <p:cNvPr id="4" name="Chart 0"/>
          <p:cNvGraphicFramePr/>
          <p:nvPr/>
        </p:nvGraphicFramePr>
        <p:xfrm>
          <a:off x="548640" y="1371600"/>
          <a:ext cx="603504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6858000" y="1737360"/>
            <a:ext cx="4754880" cy="3840480"/>
          </a:xfrm>
          <a:prstGeom prst="rect">
            <a:avLst/>
          </a:prstGeom>
          <a:noFill/>
          <a:ln/>
        </p:spPr>
        <p:txBody>
          <a:bodyPr wrap="square" rtlCol="0" anchor="t"/>
          <a:lstStyle/>
          <a:p>
            <a:pPr marL="0" indent="0">
              <a:buNone/>
            </a:pPr>
            <a:r>
              <a:rPr lang="en-US" sz="1300" b="1" dirty="0">
                <a:solidFill>
                  <a:srgbClr val="1E2761"/>
                </a:solidFill>
                <a:latin typeface="Calibri" pitchFamily="34" charset="0"/>
                <a:ea typeface="Calibri" pitchFamily="34" charset="-122"/>
                <a:cs typeface="Calibri" pitchFamily="34" charset="-120"/>
              </a:rPr>
              <a:t>Strong Positive (r = 0.82, 0.80)
</a:t>
            </a:r>
            <a:endParaRPr lang="en-US" sz="1300" dirty="0"/>
          </a:p>
          <a:p>
            <a:pPr marL="0" indent="0">
              <a:buNone/>
            </a:pPr>
            <a:r>
              <a:rPr lang="en-US" sz="1200" dirty="0">
                <a:solidFill>
                  <a:srgbClr val="1B1B2F"/>
                </a:solidFill>
                <a:latin typeface="Calibri" pitchFamily="34" charset="0"/>
                <a:ea typeface="Calibri" pitchFamily="34" charset="-122"/>
                <a:cs typeface="Calibri" pitchFamily="34" charset="-120"/>
              </a:rPr>
              <a:t>TCS-ICICI and TCS-Reliance move closely together, limiting diversification benefit.
</a:t>
            </a:r>
            <a:endParaRPr lang="en-US" sz="1300" dirty="0"/>
          </a:p>
          <a:p>
            <a:pPr marL="0" indent="0">
              <a:buNone/>
            </a:pPr>
            <a:r>
              <a:rPr lang="en-US" sz="1300" b="1" dirty="0">
                <a:solidFill>
                  <a:srgbClr val="D9A441"/>
                </a:solidFill>
                <a:latin typeface="Calibri" pitchFamily="34" charset="0"/>
                <a:ea typeface="Calibri" pitchFamily="34" charset="-122"/>
                <a:cs typeface="Calibri" pitchFamily="34" charset="-120"/>
              </a:rPr>
              <a:t>Weak Positive (r = 0.31)
</a:t>
            </a:r>
            <a:endParaRPr lang="en-US" sz="1300" dirty="0"/>
          </a:p>
          <a:p>
            <a:pPr marL="0" indent="0">
              <a:buNone/>
            </a:pPr>
            <a:r>
              <a:rPr lang="en-US" sz="1200" dirty="0">
                <a:solidFill>
                  <a:srgbClr val="1B1B2F"/>
                </a:solidFill>
                <a:latin typeface="Calibri" pitchFamily="34" charset="0"/>
                <a:ea typeface="Calibri" pitchFamily="34" charset="-122"/>
                <a:cs typeface="Calibri" pitchFamily="34" charset="-120"/>
              </a:rPr>
              <a:t>ICICI Bank and Reliance show the lowest correlation — offering the best diversification pairing in this portfolio.</a:t>
            </a:r>
            <a:endParaRPr lang="en-US" sz="1300" dirty="0"/>
          </a:p>
        </p:txBody>
      </p:sp>
      <p:sp>
        <p:nvSpPr>
          <p:cNvPr id="6" name="Text 3"/>
          <p:cNvSpPr/>
          <p:nvPr/>
        </p:nvSpPr>
        <p:spPr>
          <a:xfrm>
            <a:off x="457200" y="6473952"/>
            <a:ext cx="7315200" cy="274320"/>
          </a:xfrm>
          <a:prstGeom prst="rect">
            <a:avLst/>
          </a:prstGeom>
          <a:noFill/>
          <a:ln/>
        </p:spPr>
        <p:txBody>
          <a:bodyPr wrap="square"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Risk and Return Analysis in Equities  |  Ventura Securities Ltd</a:t>
            </a:r>
            <a:endParaRPr lang="en-US" sz="900" dirty="0"/>
          </a:p>
        </p:txBody>
      </p:sp>
      <p:sp>
        <p:nvSpPr>
          <p:cNvPr id="7" name="Text 4"/>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5486400" cy="274320"/>
          </a:xfrm>
          <a:prstGeom prst="rect">
            <a:avLst/>
          </a:prstGeom>
          <a:noFill/>
          <a:ln/>
        </p:spPr>
        <p:txBody>
          <a:bodyPr wrap="square"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CHAPTER 4 · DATA ANALYSIS</a:t>
            </a:r>
            <a:endParaRPr lang="en-US" sz="1200" dirty="0"/>
          </a:p>
        </p:txBody>
      </p:sp>
      <p:sp>
        <p:nvSpPr>
          <p:cNvPr id="3" name="Text 1"/>
          <p:cNvSpPr/>
          <p:nvPr/>
        </p:nvSpPr>
        <p:spPr>
          <a:xfrm>
            <a:off x="548640" y="365760"/>
            <a:ext cx="11091672" cy="7315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Beta Analysis (vs. Nifty 50)</a:t>
            </a:r>
            <a:endParaRPr lang="en-US" sz="3000" dirty="0"/>
          </a:p>
        </p:txBody>
      </p:sp>
      <p:graphicFrame>
        <p:nvGraphicFramePr>
          <p:cNvPr id="4" name="Chart 0"/>
          <p:cNvGraphicFramePr/>
          <p:nvPr/>
        </p:nvGraphicFramePr>
        <p:xfrm>
          <a:off x="548640" y="1371600"/>
          <a:ext cx="6035040" cy="42062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858000" y="1554480"/>
          <a:ext cx="4754880" cy="1645920"/>
        </p:xfrm>
        <a:graphic>
          <a:graphicData uri="http://schemas.openxmlformats.org/drawingml/2006/table">
            <a:tbl>
              <a:tblPr/>
              <a:tblGrid>
                <a:gridCol w="18288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411480">
                <a:tc>
                  <a:txBody>
                    <a:bodyPr/>
                    <a:lstStyle/>
                    <a:p>
                      <a:pPr marL="0" indent="0" algn="ctr">
                        <a:buNone/>
                      </a:pPr>
                      <a:r>
                        <a:rPr lang="en-US" sz="1200" b="1" dirty="0">
                          <a:solidFill>
                            <a:srgbClr val="FFFFFF"/>
                          </a:solidFill>
                        </a:rPr>
                        <a:t>Company</a:t>
                      </a:r>
                      <a:endParaRPr lang="en-US" sz="1200" dirty="0"/>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200" b="1" dirty="0">
                          <a:solidFill>
                            <a:srgbClr val="FFFFFF"/>
                          </a:solidFill>
                        </a:rPr>
                        <a:t>Beta</a:t>
                      </a:r>
                      <a:endParaRPr lang="en-US" sz="1200" dirty="0"/>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200" b="1" dirty="0">
                          <a:solidFill>
                            <a:srgbClr val="FFFFFF"/>
                          </a:solidFill>
                        </a:rPr>
                        <a:t>Sensitivity</a:t>
                      </a:r>
                      <a:endParaRPr lang="en-US" sz="1200" dirty="0"/>
                    </a:p>
                  </a:txBody>
                  <a:tcPr anchor="ctr">
                    <a:lnL w="0" cap="flat" cmpd="sng" algn="ctr">
                      <a:noFill/>
                    </a:lnL>
                    <a:lnR w="0" cap="flat" cmpd="sng" algn="ctr">
                      <a:noFill/>
                    </a:lnR>
                    <a:lnT w="0" cap="flat" cmpd="sng" algn="ctr">
                      <a:noFill/>
                    </a:lnT>
                    <a:lnB w="0" cap="flat" cmpd="sng" algn="ctr">
                      <a:noFill/>
                    </a:lnB>
                    <a:solidFill>
                      <a:srgbClr val="1E2761"/>
                    </a:solidFill>
                  </a:tcPr>
                </a:tc>
                <a:extLst>
                  <a:ext uri="{0D108BD9-81ED-4DB2-BD59-A6C34878D82A}">
                    <a16:rowId xmlns:a16="http://schemas.microsoft.com/office/drawing/2014/main" val="10000"/>
                  </a:ext>
                </a:extLst>
              </a:tr>
              <a:tr h="411480">
                <a:tc>
                  <a:txBody>
                    <a:bodyPr/>
                    <a:lstStyle/>
                    <a:p>
                      <a:pPr marL="0" indent="0" algn="ctr">
                        <a:buNone/>
                      </a:pPr>
                      <a:r>
                        <a:rPr lang="en-US" sz="1200" dirty="0">
                          <a:solidFill>
                            <a:srgbClr val="1B1B2F"/>
                          </a:solidFill>
                        </a:rPr>
                        <a:t>TCS</a:t>
                      </a:r>
                      <a:endParaRPr lang="en-US" sz="1200" dirty="0"/>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00" dirty="0">
                          <a:solidFill>
                            <a:srgbClr val="1B1B2F"/>
                          </a:solidFill>
                        </a:rPr>
                        <a:t>1.87</a:t>
                      </a:r>
                      <a:endParaRPr lang="en-US" sz="1200" dirty="0"/>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00" dirty="0">
                          <a:solidFill>
                            <a:srgbClr val="1B1B2F"/>
                          </a:solidFill>
                        </a:rPr>
                        <a:t>Highly Volatile</a:t>
                      </a:r>
                      <a:endParaRPr lang="en-US" sz="1200" dirty="0"/>
                    </a:p>
                  </a:txBody>
                  <a:tcPr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411480">
                <a:tc>
                  <a:txBody>
                    <a:bodyPr/>
                    <a:lstStyle/>
                    <a:p>
                      <a:pPr marL="0" indent="0" algn="ctr">
                        <a:buNone/>
                      </a:pPr>
                      <a:r>
                        <a:rPr lang="en-US" sz="1200" dirty="0">
                          <a:solidFill>
                            <a:srgbClr val="1B1B2F"/>
                          </a:solidFill>
                        </a:rPr>
                        <a:t>ICICI Bank</a:t>
                      </a:r>
                      <a:endParaRPr lang="en-US" sz="1200" dirty="0"/>
                    </a:p>
                  </a:txBody>
                  <a:tcPr anchor="ctr">
                    <a:lnL w="0" cap="flat" cmpd="sng" algn="ctr">
                      <a:noFill/>
                    </a:lnL>
                    <a:lnR w="0" cap="flat" cmpd="sng" algn="ctr">
                      <a:noFill/>
                    </a:lnR>
                    <a:lnT w="0" cap="flat" cmpd="sng" algn="ctr">
                      <a:noFill/>
                    </a:lnT>
                    <a:lnB w="0" cap="flat" cmpd="sng" algn="ctr">
                      <a:noFill/>
                    </a:lnB>
                    <a:solidFill>
                      <a:srgbClr val="F4F6FB"/>
                    </a:solidFill>
                  </a:tcPr>
                </a:tc>
                <a:tc>
                  <a:txBody>
                    <a:bodyPr/>
                    <a:lstStyle/>
                    <a:p>
                      <a:pPr marL="0" indent="0" algn="ctr">
                        <a:buNone/>
                      </a:pPr>
                      <a:r>
                        <a:rPr lang="en-US" sz="1200" dirty="0">
                          <a:solidFill>
                            <a:srgbClr val="1B1B2F"/>
                          </a:solidFill>
                        </a:rPr>
                        <a:t>1.01</a:t>
                      </a:r>
                      <a:endParaRPr lang="en-US" sz="1200" dirty="0"/>
                    </a:p>
                  </a:txBody>
                  <a:tcPr anchor="ctr">
                    <a:lnL w="0" cap="flat" cmpd="sng" algn="ctr">
                      <a:noFill/>
                    </a:lnL>
                    <a:lnR w="0" cap="flat" cmpd="sng" algn="ctr">
                      <a:noFill/>
                    </a:lnR>
                    <a:lnT w="0" cap="flat" cmpd="sng" algn="ctr">
                      <a:noFill/>
                    </a:lnT>
                    <a:lnB w="0" cap="flat" cmpd="sng" algn="ctr">
                      <a:noFill/>
                    </a:lnB>
                    <a:solidFill>
                      <a:srgbClr val="F4F6FB"/>
                    </a:solidFill>
                  </a:tcPr>
                </a:tc>
                <a:tc>
                  <a:txBody>
                    <a:bodyPr/>
                    <a:lstStyle/>
                    <a:p>
                      <a:pPr marL="0" indent="0" algn="ctr">
                        <a:buNone/>
                      </a:pPr>
                      <a:r>
                        <a:rPr lang="en-US" sz="1200" dirty="0">
                          <a:solidFill>
                            <a:srgbClr val="1B1B2F"/>
                          </a:solidFill>
                        </a:rPr>
                        <a:t>Near-Market</a:t>
                      </a:r>
                      <a:endParaRPr lang="en-US" sz="1200" dirty="0"/>
                    </a:p>
                  </a:txBody>
                  <a:tcPr anchor="ctr">
                    <a:lnL w="0" cap="flat" cmpd="sng" algn="ctr">
                      <a:noFill/>
                    </a:lnL>
                    <a:lnR w="0" cap="flat" cmpd="sng" algn="ctr">
                      <a:noFill/>
                    </a:lnR>
                    <a:lnT w="0" cap="flat" cmpd="sng" algn="ctr">
                      <a:noFill/>
                    </a:lnT>
                    <a:lnB w="0" cap="flat" cmpd="sng" algn="ctr">
                      <a:noFill/>
                    </a:lnB>
                    <a:solidFill>
                      <a:srgbClr val="F4F6FB"/>
                    </a:solidFill>
                  </a:tcPr>
                </a:tc>
                <a:extLst>
                  <a:ext uri="{0D108BD9-81ED-4DB2-BD59-A6C34878D82A}">
                    <a16:rowId xmlns:a16="http://schemas.microsoft.com/office/drawing/2014/main" val="10002"/>
                  </a:ext>
                </a:extLst>
              </a:tr>
              <a:tr h="411480">
                <a:tc>
                  <a:txBody>
                    <a:bodyPr/>
                    <a:lstStyle/>
                    <a:p>
                      <a:pPr marL="0" indent="0" algn="ctr">
                        <a:buNone/>
                      </a:pPr>
                      <a:r>
                        <a:rPr lang="en-US" sz="1200" dirty="0">
                          <a:solidFill>
                            <a:srgbClr val="1B1B2F"/>
                          </a:solidFill>
                        </a:rPr>
                        <a:t>Reliance Ind.</a:t>
                      </a:r>
                      <a:endParaRPr lang="en-US" sz="1200" dirty="0"/>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00" dirty="0">
                          <a:solidFill>
                            <a:srgbClr val="1B1B2F"/>
                          </a:solidFill>
                        </a:rPr>
                        <a:t>1.76</a:t>
                      </a:r>
                      <a:endParaRPr lang="en-US" sz="1200" dirty="0"/>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00" dirty="0">
                          <a:solidFill>
                            <a:srgbClr val="1B1B2F"/>
                          </a:solidFill>
                        </a:rPr>
                        <a:t>Highly Volatile</a:t>
                      </a:r>
                      <a:endParaRPr lang="en-US" sz="1200" dirty="0"/>
                    </a:p>
                  </a:txBody>
                  <a:tcPr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bl>
          </a:graphicData>
        </a:graphic>
      </p:graphicFrame>
      <p:sp>
        <p:nvSpPr>
          <p:cNvPr id="6" name="Text 2"/>
          <p:cNvSpPr/>
          <p:nvPr/>
        </p:nvSpPr>
        <p:spPr>
          <a:xfrm>
            <a:off x="6858000" y="3429000"/>
            <a:ext cx="4754880" cy="1645920"/>
          </a:xfrm>
          <a:prstGeom prst="rect">
            <a:avLst/>
          </a:prstGeom>
          <a:noFill/>
          <a:ln/>
        </p:spPr>
        <p:txBody>
          <a:bodyPr wrap="square" rtlCol="0" anchor="ctr"/>
          <a:lstStyle/>
          <a:p>
            <a:pPr marL="0" indent="0">
              <a:buNone/>
            </a:pPr>
            <a:r>
              <a:rPr lang="en-US" sz="1200" dirty="0">
                <a:solidFill>
                  <a:srgbClr val="1B1B2F"/>
                </a:solidFill>
                <a:latin typeface="Calibri" pitchFamily="34" charset="0"/>
                <a:ea typeface="Calibri" pitchFamily="34" charset="-122"/>
                <a:cs typeface="Calibri" pitchFamily="34" charset="-120"/>
              </a:rPr>
              <a:t>Beta above 1 for all three stocks means each amplifies market movements. ICICI Bank moves nearly in line with the market, while TCS and Reliance are more aggressive.</a:t>
            </a:r>
            <a:endParaRPr lang="en-US" sz="1200" dirty="0"/>
          </a:p>
        </p:txBody>
      </p:sp>
      <p:sp>
        <p:nvSpPr>
          <p:cNvPr id="7" name="Text 3"/>
          <p:cNvSpPr/>
          <p:nvPr/>
        </p:nvSpPr>
        <p:spPr>
          <a:xfrm>
            <a:off x="457200" y="6473952"/>
            <a:ext cx="7315200" cy="274320"/>
          </a:xfrm>
          <a:prstGeom prst="rect">
            <a:avLst/>
          </a:prstGeom>
          <a:noFill/>
          <a:ln/>
        </p:spPr>
        <p:txBody>
          <a:bodyPr wrap="square"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Risk and Return Analysis in Equities  |  Ventura Securities Ltd</a:t>
            </a:r>
            <a:endParaRPr lang="en-US" sz="900" dirty="0"/>
          </a:p>
        </p:txBody>
      </p:sp>
      <p:sp>
        <p:nvSpPr>
          <p:cNvPr id="8" name="Text 4"/>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5486400" cy="274320"/>
          </a:xfrm>
          <a:prstGeom prst="rect">
            <a:avLst/>
          </a:prstGeom>
          <a:noFill/>
          <a:ln/>
        </p:spPr>
        <p:txBody>
          <a:bodyPr wrap="square"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CHAPTER 4 · DATA ANALYSIS</a:t>
            </a:r>
            <a:endParaRPr lang="en-US" sz="1200" dirty="0"/>
          </a:p>
        </p:txBody>
      </p:sp>
      <p:sp>
        <p:nvSpPr>
          <p:cNvPr id="3" name="Text 1"/>
          <p:cNvSpPr/>
          <p:nvPr/>
        </p:nvSpPr>
        <p:spPr>
          <a:xfrm>
            <a:off x="548640" y="365760"/>
            <a:ext cx="11091672" cy="7315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Sharpe Ratio — Risk-Adjusted Return</a:t>
            </a:r>
            <a:endParaRPr lang="en-US" sz="3000" dirty="0"/>
          </a:p>
        </p:txBody>
      </p:sp>
      <p:graphicFrame>
        <p:nvGraphicFramePr>
          <p:cNvPr id="4" name="Chart 0"/>
          <p:cNvGraphicFramePr/>
          <p:nvPr/>
        </p:nvGraphicFramePr>
        <p:xfrm>
          <a:off x="548640" y="1371600"/>
          <a:ext cx="603504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6858000" y="1737360"/>
            <a:ext cx="4754880" cy="3840480"/>
          </a:xfrm>
          <a:prstGeom prst="rect">
            <a:avLst/>
          </a:prstGeom>
          <a:noFill/>
          <a:ln/>
        </p:spPr>
        <p:txBody>
          <a:bodyPr wrap="square" rtlCol="0" anchor="t"/>
          <a:lstStyle/>
          <a:p>
            <a:pPr marL="0" indent="0">
              <a:buNone/>
            </a:pPr>
            <a:r>
              <a:rPr lang="en-US" sz="1400" b="1" dirty="0">
                <a:solidFill>
                  <a:srgbClr val="2E7D5B"/>
                </a:solidFill>
                <a:latin typeface="Calibri" pitchFamily="34" charset="0"/>
                <a:ea typeface="Calibri" pitchFamily="34" charset="-122"/>
                <a:cs typeface="Calibri" pitchFamily="34" charset="-120"/>
              </a:rPr>
              <a:t>Highest: ICICI Bank — 1.18
</a:t>
            </a:r>
            <a:endParaRPr lang="en-US" sz="1400" dirty="0"/>
          </a:p>
          <a:p>
            <a:pPr marL="0" indent="0">
              <a:buNone/>
            </a:pPr>
            <a:r>
              <a:rPr lang="en-US" sz="1200" dirty="0">
                <a:solidFill>
                  <a:srgbClr val="1B1B2F"/>
                </a:solidFill>
                <a:latin typeface="Calibri" pitchFamily="34" charset="0"/>
                <a:ea typeface="Calibri" pitchFamily="34" charset="-122"/>
                <a:cs typeface="Calibri" pitchFamily="34" charset="-120"/>
              </a:rPr>
              <a:t>Best return generated per unit of risk taken among the three stocks.
</a:t>
            </a:r>
            <a:endParaRPr lang="en-US" sz="1400" dirty="0"/>
          </a:p>
          <a:p>
            <a:pPr marL="0" indent="0">
              <a:buNone/>
            </a:pPr>
            <a:r>
              <a:rPr lang="en-US" sz="1400" b="1" dirty="0">
                <a:solidFill>
                  <a:srgbClr val="B23A48"/>
                </a:solidFill>
                <a:latin typeface="Calibri" pitchFamily="34" charset="0"/>
                <a:ea typeface="Calibri" pitchFamily="34" charset="-122"/>
                <a:cs typeface="Calibri" pitchFamily="34" charset="-120"/>
              </a:rPr>
              <a:t>Lowest: TCS — 0.42*
</a:t>
            </a:r>
            <a:endParaRPr lang="en-US" sz="1400" dirty="0"/>
          </a:p>
          <a:p>
            <a:pPr marL="0" indent="0">
              <a:buNone/>
            </a:pPr>
            <a:r>
              <a:rPr lang="en-US" sz="1200" dirty="0">
                <a:solidFill>
                  <a:srgbClr val="1B1B2F"/>
                </a:solidFill>
                <a:latin typeface="Calibri" pitchFamily="34" charset="0"/>
                <a:ea typeface="Calibri" pitchFamily="34" charset="-122"/>
                <a:cs typeface="Calibri" pitchFamily="34" charset="-120"/>
              </a:rPr>
              <a:t>Weakest risk-adjusted performance — high volatility without matching reward.
</a:t>
            </a:r>
            <a:endParaRPr lang="en-US" sz="1400" dirty="0"/>
          </a:p>
          <a:p>
            <a:pPr marL="0" indent="0">
              <a:buNone/>
            </a:pPr>
            <a:r>
              <a:rPr lang="en-US" sz="1050" i="1" dirty="0">
                <a:solidFill>
                  <a:srgbClr val="6B7280"/>
                </a:solidFill>
                <a:latin typeface="Calibri" pitchFamily="34" charset="0"/>
                <a:ea typeface="Calibri" pitchFamily="34" charset="-122"/>
                <a:cs typeface="Calibri" pitchFamily="34" charset="-120"/>
              </a:rPr>
              <a:t>*Report's original Sharpe ratio (average return ÷ SD, no risk-free deduction). ICICI: 1.18, TCS: 0.42, Reliance: 0.61.</a:t>
            </a:r>
            <a:endParaRPr lang="en-US" sz="1400" dirty="0"/>
          </a:p>
        </p:txBody>
      </p:sp>
      <p:sp>
        <p:nvSpPr>
          <p:cNvPr id="6" name="Text 3"/>
          <p:cNvSpPr/>
          <p:nvPr/>
        </p:nvSpPr>
        <p:spPr>
          <a:xfrm>
            <a:off x="457200" y="6473952"/>
            <a:ext cx="7315200" cy="274320"/>
          </a:xfrm>
          <a:prstGeom prst="rect">
            <a:avLst/>
          </a:prstGeom>
          <a:noFill/>
          <a:ln/>
        </p:spPr>
        <p:txBody>
          <a:bodyPr wrap="square"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Risk and Return Analysis in Equities  |  Ventura Securities Ltd</a:t>
            </a:r>
            <a:endParaRPr lang="en-US" sz="900" dirty="0"/>
          </a:p>
        </p:txBody>
      </p:sp>
      <p:sp>
        <p:nvSpPr>
          <p:cNvPr id="7" name="Text 4"/>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5486400" cy="274320"/>
          </a:xfrm>
          <a:prstGeom prst="rect">
            <a:avLst/>
          </a:prstGeom>
          <a:noFill/>
          <a:ln/>
        </p:spPr>
        <p:txBody>
          <a:bodyPr wrap="square"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CHAPTER 4 · DATA ANALYSIS</a:t>
            </a:r>
            <a:endParaRPr lang="en-US" sz="1200" dirty="0"/>
          </a:p>
        </p:txBody>
      </p:sp>
      <p:sp>
        <p:nvSpPr>
          <p:cNvPr id="3" name="Text 1"/>
          <p:cNvSpPr/>
          <p:nvPr/>
        </p:nvSpPr>
        <p:spPr>
          <a:xfrm>
            <a:off x="548640" y="365760"/>
            <a:ext cx="11091672" cy="7315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Financial Ratio Analysis (FY 2025–26)</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22960" y="1417320"/>
          <a:ext cx="10515600" cy="3749039"/>
        </p:xfrm>
        <a:graphic>
          <a:graphicData uri="http://schemas.openxmlformats.org/drawingml/2006/table">
            <a:tbl>
              <a:tblPr/>
              <a:tblGrid>
                <a:gridCol w="3474720">
                  <a:extLst>
                    <a:ext uri="{9D8B030D-6E8A-4147-A177-3AD203B41FA5}">
                      <a16:colId xmlns:a16="http://schemas.microsoft.com/office/drawing/2014/main" val="20000"/>
                    </a:ext>
                  </a:extLst>
                </a:gridCol>
                <a:gridCol w="2350008">
                  <a:extLst>
                    <a:ext uri="{9D8B030D-6E8A-4147-A177-3AD203B41FA5}">
                      <a16:colId xmlns:a16="http://schemas.microsoft.com/office/drawing/2014/main" val="20001"/>
                    </a:ext>
                  </a:extLst>
                </a:gridCol>
                <a:gridCol w="2350008">
                  <a:extLst>
                    <a:ext uri="{9D8B030D-6E8A-4147-A177-3AD203B41FA5}">
                      <a16:colId xmlns:a16="http://schemas.microsoft.com/office/drawing/2014/main" val="20002"/>
                    </a:ext>
                  </a:extLst>
                </a:gridCol>
                <a:gridCol w="2340864">
                  <a:extLst>
                    <a:ext uri="{9D8B030D-6E8A-4147-A177-3AD203B41FA5}">
                      <a16:colId xmlns:a16="http://schemas.microsoft.com/office/drawing/2014/main" val="20003"/>
                    </a:ext>
                  </a:extLst>
                </a:gridCol>
              </a:tblGrid>
              <a:tr h="535577">
                <a:tc>
                  <a:txBody>
                    <a:bodyPr/>
                    <a:lstStyle/>
                    <a:p>
                      <a:pPr marL="0" indent="0" algn="l">
                        <a:buNone/>
                      </a:pPr>
                      <a:r>
                        <a:rPr lang="en-US" sz="1300" b="1" dirty="0">
                          <a:solidFill>
                            <a:srgbClr val="FFFFFF"/>
                          </a:solidFill>
                        </a:rPr>
                        <a:t>Ratio</a:t>
                      </a:r>
                      <a:endParaRPr lang="en-US" sz="130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rPr>
                        <a:t>TCS</a:t>
                      </a:r>
                      <a:endParaRPr lang="en-US" sz="130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rPr>
                        <a:t>ICICI Bank</a:t>
                      </a:r>
                      <a:endParaRPr lang="en-US" sz="130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rPr>
                        <a:t>Reliance Ind.</a:t>
                      </a:r>
                      <a:endParaRPr lang="en-US" sz="130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35577">
                <a:tc>
                  <a:txBody>
                    <a:bodyPr/>
                    <a:lstStyle/>
                    <a:p>
                      <a:pPr marL="0" indent="0" algn="l">
                        <a:buNone/>
                      </a:pPr>
                      <a:r>
                        <a:rPr lang="en-US" sz="1300" b="1" dirty="0">
                          <a:solidFill>
                            <a:srgbClr val="1B1B2F"/>
                          </a:solidFill>
                        </a:rPr>
                        <a:t>EPS (₹)</a:t>
                      </a:r>
                      <a:endParaRPr lang="en-US" sz="130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1B2F"/>
                          </a:solidFill>
                        </a:rPr>
                        <a:t>126.11</a:t>
                      </a:r>
                      <a:endParaRPr lang="en-US" sz="130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1B2F"/>
                          </a:solidFill>
                        </a:rPr>
                        <a:t>74.02</a:t>
                      </a:r>
                      <a:endParaRPr lang="en-US" sz="130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1B2F"/>
                          </a:solidFill>
                        </a:rPr>
                        <a:t>32.01</a:t>
                      </a:r>
                      <a:endParaRPr lang="en-US" sz="130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5577">
                <a:tc>
                  <a:txBody>
                    <a:bodyPr/>
                    <a:lstStyle/>
                    <a:p>
                      <a:pPr marL="0" indent="0" algn="l">
                        <a:buNone/>
                      </a:pPr>
                      <a:r>
                        <a:rPr lang="en-US" sz="1300" b="1" dirty="0">
                          <a:solidFill>
                            <a:srgbClr val="1B1B2F"/>
                          </a:solidFill>
                        </a:rPr>
                        <a:t>P/E Ratio (x)</a:t>
                      </a:r>
                      <a:endParaRPr lang="en-US" sz="130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B"/>
                    </a:solidFill>
                  </a:tcPr>
                </a:tc>
                <a:tc>
                  <a:txBody>
                    <a:bodyPr/>
                    <a:lstStyle/>
                    <a:p>
                      <a:pPr marL="0" indent="0" algn="ctr">
                        <a:buNone/>
                      </a:pPr>
                      <a:r>
                        <a:rPr lang="en-US" sz="1300" dirty="0">
                          <a:solidFill>
                            <a:srgbClr val="1B1B2F"/>
                          </a:solidFill>
                        </a:rPr>
                        <a:t>17.66</a:t>
                      </a:r>
                      <a:endParaRPr lang="en-US" sz="130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B"/>
                    </a:solidFill>
                  </a:tcPr>
                </a:tc>
                <a:tc>
                  <a:txBody>
                    <a:bodyPr/>
                    <a:lstStyle/>
                    <a:p>
                      <a:pPr marL="0" indent="0" algn="ctr">
                        <a:buNone/>
                      </a:pPr>
                      <a:r>
                        <a:rPr lang="en-US" sz="1300" dirty="0">
                          <a:solidFill>
                            <a:srgbClr val="1B1B2F"/>
                          </a:solidFill>
                        </a:rPr>
                        <a:t>16.96</a:t>
                      </a:r>
                      <a:endParaRPr lang="en-US" sz="130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B"/>
                    </a:solidFill>
                  </a:tcPr>
                </a:tc>
                <a:tc>
                  <a:txBody>
                    <a:bodyPr/>
                    <a:lstStyle/>
                    <a:p>
                      <a:pPr marL="0" indent="0" algn="ctr">
                        <a:buNone/>
                      </a:pPr>
                      <a:r>
                        <a:rPr lang="en-US" sz="1300" dirty="0">
                          <a:solidFill>
                            <a:srgbClr val="1B1B2F"/>
                          </a:solidFill>
                        </a:rPr>
                        <a:t>22.52</a:t>
                      </a:r>
                      <a:endParaRPr lang="en-US" sz="130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535577">
                <a:tc>
                  <a:txBody>
                    <a:bodyPr/>
                    <a:lstStyle/>
                    <a:p>
                      <a:pPr marL="0" indent="0" algn="l">
                        <a:buNone/>
                      </a:pPr>
                      <a:r>
                        <a:rPr lang="en-US" sz="1300" b="1" dirty="0">
                          <a:solidFill>
                            <a:srgbClr val="1B1B2F"/>
                          </a:solidFill>
                        </a:rPr>
                        <a:t>ROE (%)</a:t>
                      </a:r>
                      <a:endParaRPr lang="en-US" sz="130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1B2F"/>
                          </a:solidFill>
                        </a:rPr>
                        <a:t>48.40</a:t>
                      </a:r>
                      <a:endParaRPr lang="en-US" sz="130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1B2F"/>
                          </a:solidFill>
                        </a:rPr>
                        <a:t>16.80</a:t>
                      </a:r>
                      <a:endParaRPr lang="en-US" sz="130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1B2F"/>
                          </a:solidFill>
                        </a:rPr>
                        <a:t>9.14</a:t>
                      </a:r>
                      <a:endParaRPr lang="en-US" sz="130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5577">
                <a:tc>
                  <a:txBody>
                    <a:bodyPr/>
                    <a:lstStyle/>
                    <a:p>
                      <a:pPr marL="0" indent="0" algn="l">
                        <a:buNone/>
                      </a:pPr>
                      <a:r>
                        <a:rPr lang="en-US" sz="1300" b="1" dirty="0">
                          <a:solidFill>
                            <a:srgbClr val="1B1B2F"/>
                          </a:solidFill>
                        </a:rPr>
                        <a:t>Net Profit Margin (%)</a:t>
                      </a:r>
                      <a:endParaRPr lang="en-US" sz="130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B"/>
                    </a:solidFill>
                  </a:tcPr>
                </a:tc>
                <a:tc>
                  <a:txBody>
                    <a:bodyPr/>
                    <a:lstStyle/>
                    <a:p>
                      <a:pPr marL="0" indent="0" algn="ctr">
                        <a:buNone/>
                      </a:pPr>
                      <a:r>
                        <a:rPr lang="en-US" sz="1300" dirty="0">
                          <a:solidFill>
                            <a:srgbClr val="1B1B2F"/>
                          </a:solidFill>
                        </a:rPr>
                        <a:t>19.10</a:t>
                      </a:r>
                      <a:endParaRPr lang="en-US" sz="130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B"/>
                    </a:solidFill>
                  </a:tcPr>
                </a:tc>
                <a:tc>
                  <a:txBody>
                    <a:bodyPr/>
                    <a:lstStyle/>
                    <a:p>
                      <a:pPr marL="0" indent="0" algn="ctr">
                        <a:buNone/>
                      </a:pPr>
                      <a:r>
                        <a:rPr lang="en-US" sz="1300" dirty="0">
                          <a:solidFill>
                            <a:srgbClr val="1B1B2F"/>
                          </a:solidFill>
                        </a:rPr>
                        <a:t>23.55</a:t>
                      </a:r>
                      <a:endParaRPr lang="en-US" sz="130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B"/>
                    </a:solidFill>
                  </a:tcPr>
                </a:tc>
                <a:tc>
                  <a:txBody>
                    <a:bodyPr/>
                    <a:lstStyle/>
                    <a:p>
                      <a:pPr marL="0" indent="0" algn="ctr">
                        <a:buNone/>
                      </a:pPr>
                      <a:r>
                        <a:rPr lang="en-US" sz="1300" dirty="0">
                          <a:solidFill>
                            <a:srgbClr val="1B1B2F"/>
                          </a:solidFill>
                        </a:rPr>
                        <a:t>8.70</a:t>
                      </a:r>
                      <a:endParaRPr lang="en-US" sz="130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B"/>
                    </a:solidFill>
                  </a:tcPr>
                </a:tc>
                <a:extLst>
                  <a:ext uri="{0D108BD9-81ED-4DB2-BD59-A6C34878D82A}">
                    <a16:rowId xmlns:a16="http://schemas.microsoft.com/office/drawing/2014/main" val="10004"/>
                  </a:ext>
                </a:extLst>
              </a:tr>
              <a:tr h="535577">
                <a:tc>
                  <a:txBody>
                    <a:bodyPr/>
                    <a:lstStyle/>
                    <a:p>
                      <a:pPr marL="0" indent="0" algn="l">
                        <a:buNone/>
                      </a:pPr>
                      <a:r>
                        <a:rPr lang="en-US" sz="1300" b="1" dirty="0">
                          <a:solidFill>
                            <a:srgbClr val="1B1B2F"/>
                          </a:solidFill>
                        </a:rPr>
                        <a:t>Debt-Equity Ratio (x)</a:t>
                      </a:r>
                      <a:endParaRPr lang="en-US" sz="130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1B2F"/>
                          </a:solidFill>
                        </a:rPr>
                        <a:t>0.10</a:t>
                      </a:r>
                      <a:endParaRPr lang="en-US" sz="130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1B2F"/>
                          </a:solidFill>
                        </a:rPr>
                        <a:t>0.59</a:t>
                      </a:r>
                      <a:endParaRPr lang="en-US" sz="130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1B2F"/>
                          </a:solidFill>
                        </a:rPr>
                        <a:t>0.37</a:t>
                      </a:r>
                      <a:endParaRPr lang="en-US" sz="130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5577">
                <a:tc>
                  <a:txBody>
                    <a:bodyPr/>
                    <a:lstStyle/>
                    <a:p>
                      <a:pPr marL="0" indent="0" algn="l">
                        <a:buNone/>
                      </a:pPr>
                      <a:r>
                        <a:rPr lang="en-US" sz="1300" b="1" dirty="0">
                          <a:solidFill>
                            <a:srgbClr val="1B1B2F"/>
                          </a:solidFill>
                        </a:rPr>
                        <a:t>Current Ratio (x)</a:t>
                      </a:r>
                      <a:endParaRPr lang="en-US" sz="130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B"/>
                    </a:solidFill>
                  </a:tcPr>
                </a:tc>
                <a:tc>
                  <a:txBody>
                    <a:bodyPr/>
                    <a:lstStyle/>
                    <a:p>
                      <a:pPr marL="0" indent="0" algn="ctr">
                        <a:buNone/>
                      </a:pPr>
                      <a:r>
                        <a:rPr lang="en-US" sz="1300" dirty="0">
                          <a:solidFill>
                            <a:srgbClr val="1B1B2F"/>
                          </a:solidFill>
                        </a:rPr>
                        <a:t>2.23</a:t>
                      </a:r>
                      <a:endParaRPr lang="en-US" sz="130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B"/>
                    </a:solidFill>
                  </a:tcPr>
                </a:tc>
                <a:tc>
                  <a:txBody>
                    <a:bodyPr/>
                    <a:lstStyle/>
                    <a:p>
                      <a:pPr marL="0" indent="0" algn="ctr">
                        <a:buNone/>
                      </a:pPr>
                      <a:r>
                        <a:rPr lang="en-US" sz="1300" dirty="0">
                          <a:solidFill>
                            <a:srgbClr val="1B1B2F"/>
                          </a:solidFill>
                        </a:rPr>
                        <a:t>1.05</a:t>
                      </a:r>
                      <a:endParaRPr lang="en-US" sz="130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B"/>
                    </a:solidFill>
                  </a:tcPr>
                </a:tc>
                <a:tc>
                  <a:txBody>
                    <a:bodyPr/>
                    <a:lstStyle/>
                    <a:p>
                      <a:pPr marL="0" indent="0" algn="ctr">
                        <a:buNone/>
                      </a:pPr>
                      <a:r>
                        <a:rPr lang="en-US" sz="1300" dirty="0">
                          <a:solidFill>
                            <a:srgbClr val="1B1B2F"/>
                          </a:solidFill>
                        </a:rPr>
                        <a:t>1.10</a:t>
                      </a:r>
                      <a:endParaRPr lang="en-US" sz="130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B"/>
                    </a:solidFill>
                  </a:tcPr>
                </a:tc>
                <a:extLst>
                  <a:ext uri="{0D108BD9-81ED-4DB2-BD59-A6C34878D82A}">
                    <a16:rowId xmlns:a16="http://schemas.microsoft.com/office/drawing/2014/main" val="10006"/>
                  </a:ext>
                </a:extLst>
              </a:tr>
            </a:tbl>
          </a:graphicData>
        </a:graphic>
      </p:graphicFrame>
      <p:sp>
        <p:nvSpPr>
          <p:cNvPr id="5" name="Text 2"/>
          <p:cNvSpPr/>
          <p:nvPr/>
        </p:nvSpPr>
        <p:spPr>
          <a:xfrm>
            <a:off x="822960" y="5349240"/>
            <a:ext cx="10515600" cy="822960"/>
          </a:xfrm>
          <a:prstGeom prst="rect">
            <a:avLst/>
          </a:prstGeom>
          <a:noFill/>
          <a:ln/>
        </p:spPr>
        <p:txBody>
          <a:bodyPr wrap="square" rtlCol="0" anchor="ctr"/>
          <a:lstStyle/>
          <a:p>
            <a:pPr marL="0" indent="0">
              <a:buNone/>
            </a:pPr>
            <a:r>
              <a:rPr lang="en-US" sz="1250" i="1" dirty="0">
                <a:solidFill>
                  <a:srgbClr val="6B7280"/>
                </a:solidFill>
                <a:latin typeface="Calibri" pitchFamily="34" charset="0"/>
                <a:ea typeface="Calibri" pitchFamily="34" charset="-122"/>
                <a:cs typeface="Calibri" pitchFamily="34" charset="-120"/>
              </a:rPr>
              <a:t>TCS leads on profitability efficiency (ROE, EPS) with minimal leverage. ICICI Bank's higher debt-equity ratio is typical for banking. Reliance carries the highest valuation multiple (P/E).</a:t>
            </a:r>
            <a:endParaRPr lang="en-US" sz="1250" dirty="0"/>
          </a:p>
        </p:txBody>
      </p:sp>
      <p:sp>
        <p:nvSpPr>
          <p:cNvPr id="6" name="Text 3"/>
          <p:cNvSpPr/>
          <p:nvPr/>
        </p:nvSpPr>
        <p:spPr>
          <a:xfrm>
            <a:off x="457200" y="6473952"/>
            <a:ext cx="7315200" cy="274320"/>
          </a:xfrm>
          <a:prstGeom prst="rect">
            <a:avLst/>
          </a:prstGeom>
          <a:noFill/>
          <a:ln/>
        </p:spPr>
        <p:txBody>
          <a:bodyPr wrap="square"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Risk and Return Analysis in Equities  |  Ventura Securities Ltd</a:t>
            </a:r>
            <a:endParaRPr lang="en-US" sz="900" dirty="0"/>
          </a:p>
        </p:txBody>
      </p:sp>
      <p:sp>
        <p:nvSpPr>
          <p:cNvPr id="7" name="Text 4"/>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5486400" cy="274320"/>
          </a:xfrm>
          <a:prstGeom prst="rect">
            <a:avLst/>
          </a:prstGeom>
          <a:noFill/>
          <a:ln/>
        </p:spPr>
        <p:txBody>
          <a:bodyPr wrap="square"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CHAPTER 4 · DATA ANALYSIS</a:t>
            </a:r>
            <a:endParaRPr lang="en-US" sz="1200" dirty="0"/>
          </a:p>
        </p:txBody>
      </p:sp>
      <p:sp>
        <p:nvSpPr>
          <p:cNvPr id="3" name="Text 1"/>
          <p:cNvSpPr/>
          <p:nvPr/>
        </p:nvSpPr>
        <p:spPr>
          <a:xfrm>
            <a:off x="548640" y="365760"/>
            <a:ext cx="11091672" cy="7315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Overall Risk-Return Summary</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0080" y="1554480"/>
          <a:ext cx="10881360" cy="2011680"/>
        </p:xfrm>
        <a:graphic>
          <a:graphicData uri="http://schemas.openxmlformats.org/drawingml/2006/table">
            <a:tbl>
              <a:tblPr/>
              <a:tblGrid>
                <a:gridCol w="27432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2377440">
                  <a:extLst>
                    <a:ext uri="{9D8B030D-6E8A-4147-A177-3AD203B41FA5}">
                      <a16:colId xmlns:a16="http://schemas.microsoft.com/office/drawing/2014/main" val="20004"/>
                    </a:ext>
                  </a:extLst>
                </a:gridCol>
              </a:tblGrid>
              <a:tr h="502920">
                <a:tc>
                  <a:txBody>
                    <a:bodyPr/>
                    <a:lstStyle/>
                    <a:p>
                      <a:pPr marL="0" indent="0" algn="l">
                        <a:buNone/>
                      </a:pPr>
                      <a:r>
                        <a:rPr lang="en-US" sz="1350" b="1" dirty="0">
                          <a:solidFill>
                            <a:srgbClr val="FFFFFF"/>
                          </a:solidFill>
                        </a:rPr>
                        <a:t>Company</a:t>
                      </a:r>
                      <a:endParaRPr lang="en-US" sz="13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marL="0" indent="0" algn="ctr">
                        <a:buNone/>
                      </a:pPr>
                      <a:r>
                        <a:rPr lang="en-US" sz="1350" b="1" dirty="0">
                          <a:solidFill>
                            <a:srgbClr val="FFFFFF"/>
                          </a:solidFill>
                        </a:rPr>
                        <a:t>Avg. Return</a:t>
                      </a:r>
                      <a:endParaRPr lang="en-US" sz="13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marL="0" indent="0" algn="ctr">
                        <a:buNone/>
                      </a:pPr>
                      <a:r>
                        <a:rPr lang="en-US" sz="1350" b="1" dirty="0">
                          <a:solidFill>
                            <a:srgbClr val="FFFFFF"/>
                          </a:solidFill>
                        </a:rPr>
                        <a:t>Risk (SD)</a:t>
                      </a:r>
                      <a:endParaRPr lang="en-US" sz="13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marL="0" indent="0" algn="ctr">
                        <a:buNone/>
                      </a:pPr>
                      <a:r>
                        <a:rPr lang="en-US" sz="1350" b="1" dirty="0">
                          <a:solidFill>
                            <a:srgbClr val="FFFFFF"/>
                          </a:solidFill>
                        </a:rPr>
                        <a:t>Beta</a:t>
                      </a:r>
                      <a:endParaRPr lang="en-US" sz="13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marL="0" indent="0" algn="ctr">
                        <a:buNone/>
                      </a:pPr>
                      <a:r>
                        <a:rPr lang="en-US" sz="1350" b="1" dirty="0">
                          <a:solidFill>
                            <a:srgbClr val="FFFFFF"/>
                          </a:solidFill>
                        </a:rPr>
                        <a:t>Investment Nature</a:t>
                      </a:r>
                      <a:endParaRPr lang="en-US" sz="13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02920">
                <a:tc>
                  <a:txBody>
                    <a:bodyPr/>
                    <a:lstStyle/>
                    <a:p>
                      <a:pPr marL="0" indent="0" algn="l">
                        <a:buNone/>
                      </a:pPr>
                      <a:r>
                        <a:rPr lang="en-US" sz="1350" b="1" dirty="0">
                          <a:solidFill>
                            <a:srgbClr val="1B1B2F"/>
                          </a:solidFill>
                        </a:rPr>
                        <a:t>TCS</a:t>
                      </a:r>
                      <a:endParaRPr lang="en-US" sz="13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1B2F"/>
                          </a:solidFill>
                        </a:rPr>
                        <a:t>Low (1.76%)</a:t>
                      </a:r>
                      <a:endParaRPr lang="en-US" sz="13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1B2F"/>
                          </a:solidFill>
                        </a:rPr>
                        <a:t>High (20.07%)</a:t>
                      </a:r>
                      <a:endParaRPr lang="en-US" sz="13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1B2F"/>
                          </a:solidFill>
                        </a:rPr>
                        <a:t>1.87</a:t>
                      </a:r>
                      <a:endParaRPr lang="en-US" sz="13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1B2F"/>
                          </a:solidFill>
                        </a:rPr>
                        <a:t>Risky</a:t>
                      </a:r>
                      <a:endParaRPr lang="en-US" sz="13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350" b="1" dirty="0">
                          <a:solidFill>
                            <a:srgbClr val="1B1B2F"/>
                          </a:solidFill>
                        </a:rPr>
                        <a:t>ICICI Bank</a:t>
                      </a:r>
                      <a:endParaRPr lang="en-US" sz="13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B"/>
                    </a:solidFill>
                  </a:tcPr>
                </a:tc>
                <a:tc>
                  <a:txBody>
                    <a:bodyPr/>
                    <a:lstStyle/>
                    <a:p>
                      <a:pPr marL="0" indent="0" algn="ctr">
                        <a:buNone/>
                      </a:pPr>
                      <a:r>
                        <a:rPr lang="en-US" sz="1350" dirty="0">
                          <a:solidFill>
                            <a:srgbClr val="1B1B2F"/>
                          </a:solidFill>
                        </a:rPr>
                        <a:t>High (12.84%)</a:t>
                      </a:r>
                      <a:endParaRPr lang="en-US" sz="13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B"/>
                    </a:solidFill>
                  </a:tcPr>
                </a:tc>
                <a:tc>
                  <a:txBody>
                    <a:bodyPr/>
                    <a:lstStyle/>
                    <a:p>
                      <a:pPr marL="0" indent="0" algn="ctr">
                        <a:buNone/>
                      </a:pPr>
                      <a:r>
                        <a:rPr lang="en-US" sz="1350" dirty="0">
                          <a:solidFill>
                            <a:srgbClr val="1B1B2F"/>
                          </a:solidFill>
                        </a:rPr>
                        <a:t>Moderate (13.90%)</a:t>
                      </a:r>
                      <a:endParaRPr lang="en-US" sz="13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B"/>
                    </a:solidFill>
                  </a:tcPr>
                </a:tc>
                <a:tc>
                  <a:txBody>
                    <a:bodyPr/>
                    <a:lstStyle/>
                    <a:p>
                      <a:pPr marL="0" indent="0" algn="ctr">
                        <a:buNone/>
                      </a:pPr>
                      <a:r>
                        <a:rPr lang="en-US" sz="1350" dirty="0">
                          <a:solidFill>
                            <a:srgbClr val="1B1B2F"/>
                          </a:solidFill>
                        </a:rPr>
                        <a:t>1.01</a:t>
                      </a:r>
                      <a:endParaRPr lang="en-US" sz="13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B"/>
                    </a:solidFill>
                  </a:tcPr>
                </a:tc>
                <a:tc>
                  <a:txBody>
                    <a:bodyPr/>
                    <a:lstStyle/>
                    <a:p>
                      <a:pPr marL="0" indent="0" algn="ctr">
                        <a:buNone/>
                      </a:pPr>
                      <a:r>
                        <a:rPr lang="en-US" sz="1350" dirty="0">
                          <a:solidFill>
                            <a:srgbClr val="1B1B2F"/>
                          </a:solidFill>
                        </a:rPr>
                        <a:t>Stable</a:t>
                      </a:r>
                      <a:endParaRPr lang="en-US" sz="13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502920">
                <a:tc>
                  <a:txBody>
                    <a:bodyPr/>
                    <a:lstStyle/>
                    <a:p>
                      <a:pPr marL="0" indent="0" algn="l">
                        <a:buNone/>
                      </a:pPr>
                      <a:r>
                        <a:rPr lang="en-US" sz="1350" b="1" dirty="0">
                          <a:solidFill>
                            <a:srgbClr val="1B1B2F"/>
                          </a:solidFill>
                        </a:rPr>
                        <a:t>Reliance Industries</a:t>
                      </a:r>
                      <a:endParaRPr lang="en-US" sz="13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1B2F"/>
                          </a:solidFill>
                        </a:rPr>
                        <a:t>Moderate (6.62%)</a:t>
                      </a:r>
                      <a:endParaRPr lang="en-US" sz="13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1B2F"/>
                          </a:solidFill>
                        </a:rPr>
                        <a:t>High (21.92%)</a:t>
                      </a:r>
                      <a:endParaRPr lang="en-US" sz="13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1B2F"/>
                          </a:solidFill>
                        </a:rPr>
                        <a:t>1.76</a:t>
                      </a:r>
                      <a:endParaRPr lang="en-US" sz="13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1B2F"/>
                          </a:solidFill>
                        </a:rPr>
                        <a:t>Volatile</a:t>
                      </a:r>
                      <a:endParaRPr lang="en-US" sz="1350" dirty="0"/>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548640" y="3977640"/>
            <a:ext cx="3520440" cy="1737360"/>
          </a:xfrm>
          <a:prstGeom prst="roundRect">
            <a:avLst>
              <a:gd name="adj" fmla="val 5263"/>
            </a:avLst>
          </a:prstGeom>
          <a:solidFill>
            <a:srgbClr val="F4F6FB"/>
          </a:solidFill>
          <a:ln/>
        </p:spPr>
      </p:sp>
      <p:sp>
        <p:nvSpPr>
          <p:cNvPr id="6" name="Shape 3"/>
          <p:cNvSpPr/>
          <p:nvPr/>
        </p:nvSpPr>
        <p:spPr>
          <a:xfrm>
            <a:off x="822960" y="4206240"/>
            <a:ext cx="1463040" cy="384048"/>
          </a:xfrm>
          <a:prstGeom prst="roundRect">
            <a:avLst>
              <a:gd name="adj" fmla="val 50000"/>
            </a:avLst>
          </a:prstGeom>
          <a:solidFill>
            <a:srgbClr val="B23A48"/>
          </a:solidFill>
          <a:ln/>
        </p:spPr>
      </p:sp>
      <p:sp>
        <p:nvSpPr>
          <p:cNvPr id="7" name="Text 4"/>
          <p:cNvSpPr/>
          <p:nvPr/>
        </p:nvSpPr>
        <p:spPr>
          <a:xfrm>
            <a:off x="822960" y="4206240"/>
            <a:ext cx="146304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RISKY</a:t>
            </a:r>
            <a:endParaRPr lang="en-US" sz="1100" dirty="0"/>
          </a:p>
        </p:txBody>
      </p:sp>
      <p:sp>
        <p:nvSpPr>
          <p:cNvPr id="8" name="Text 5"/>
          <p:cNvSpPr/>
          <p:nvPr/>
        </p:nvSpPr>
        <p:spPr>
          <a:xfrm>
            <a:off x="822960" y="4709160"/>
            <a:ext cx="2971800"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TCS</a:t>
            </a:r>
            <a:endParaRPr lang="en-US" sz="1500" dirty="0"/>
          </a:p>
        </p:txBody>
      </p:sp>
      <p:sp>
        <p:nvSpPr>
          <p:cNvPr id="9" name="Text 6"/>
          <p:cNvSpPr/>
          <p:nvPr/>
        </p:nvSpPr>
        <p:spPr>
          <a:xfrm>
            <a:off x="822960" y="5120640"/>
            <a:ext cx="2971800" cy="502920"/>
          </a:xfrm>
          <a:prstGeom prst="rect">
            <a:avLst/>
          </a:prstGeom>
          <a:noFill/>
          <a:ln/>
        </p:spPr>
        <p:txBody>
          <a:bodyPr wrap="square" rtlCol="0" anchor="ctr"/>
          <a:lstStyle/>
          <a:p>
            <a:pPr marL="0" indent="0">
              <a:buNone/>
            </a:pPr>
            <a:r>
              <a:rPr lang="en-US" sz="1150" dirty="0">
                <a:solidFill>
                  <a:srgbClr val="1B1B2F"/>
                </a:solidFill>
                <a:latin typeface="Calibri" pitchFamily="34" charset="0"/>
                <a:ea typeface="Calibri" pitchFamily="34" charset="-122"/>
                <a:cs typeface="Calibri" pitchFamily="34" charset="-120"/>
              </a:rPr>
              <a:t>High volatility, low return</a:t>
            </a:r>
            <a:endParaRPr lang="en-US" sz="1150" dirty="0"/>
          </a:p>
        </p:txBody>
      </p:sp>
      <p:sp>
        <p:nvSpPr>
          <p:cNvPr id="10" name="Shape 7"/>
          <p:cNvSpPr/>
          <p:nvPr/>
        </p:nvSpPr>
        <p:spPr>
          <a:xfrm>
            <a:off x="4434840" y="3977640"/>
            <a:ext cx="3520440" cy="1737360"/>
          </a:xfrm>
          <a:prstGeom prst="roundRect">
            <a:avLst>
              <a:gd name="adj" fmla="val 5263"/>
            </a:avLst>
          </a:prstGeom>
          <a:solidFill>
            <a:srgbClr val="F4F6FB"/>
          </a:solidFill>
          <a:ln/>
        </p:spPr>
      </p:sp>
      <p:sp>
        <p:nvSpPr>
          <p:cNvPr id="11" name="Shape 8"/>
          <p:cNvSpPr/>
          <p:nvPr/>
        </p:nvSpPr>
        <p:spPr>
          <a:xfrm>
            <a:off x="4709160" y="4206240"/>
            <a:ext cx="1463040" cy="384048"/>
          </a:xfrm>
          <a:prstGeom prst="roundRect">
            <a:avLst>
              <a:gd name="adj" fmla="val 50000"/>
            </a:avLst>
          </a:prstGeom>
          <a:solidFill>
            <a:srgbClr val="2E7D5B"/>
          </a:solidFill>
          <a:ln/>
        </p:spPr>
      </p:sp>
      <p:sp>
        <p:nvSpPr>
          <p:cNvPr id="12" name="Text 9"/>
          <p:cNvSpPr/>
          <p:nvPr/>
        </p:nvSpPr>
        <p:spPr>
          <a:xfrm>
            <a:off x="4709160" y="4206240"/>
            <a:ext cx="146304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STABLE</a:t>
            </a:r>
            <a:endParaRPr lang="en-US" sz="1100" dirty="0"/>
          </a:p>
        </p:txBody>
      </p:sp>
      <p:sp>
        <p:nvSpPr>
          <p:cNvPr id="13" name="Text 10"/>
          <p:cNvSpPr/>
          <p:nvPr/>
        </p:nvSpPr>
        <p:spPr>
          <a:xfrm>
            <a:off x="4709160" y="4709160"/>
            <a:ext cx="2971800"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ICICI Bank</a:t>
            </a:r>
            <a:endParaRPr lang="en-US" sz="1500" dirty="0"/>
          </a:p>
        </p:txBody>
      </p:sp>
      <p:sp>
        <p:nvSpPr>
          <p:cNvPr id="14" name="Text 11"/>
          <p:cNvSpPr/>
          <p:nvPr/>
        </p:nvSpPr>
        <p:spPr>
          <a:xfrm>
            <a:off x="4709160" y="5120640"/>
            <a:ext cx="2971800" cy="502920"/>
          </a:xfrm>
          <a:prstGeom prst="rect">
            <a:avLst/>
          </a:prstGeom>
          <a:noFill/>
          <a:ln/>
        </p:spPr>
        <p:txBody>
          <a:bodyPr wrap="square" rtlCol="0" anchor="ctr"/>
          <a:lstStyle/>
          <a:p>
            <a:pPr marL="0" indent="0">
              <a:buNone/>
            </a:pPr>
            <a:r>
              <a:rPr lang="en-US" sz="1150" dirty="0">
                <a:solidFill>
                  <a:srgbClr val="1B1B2F"/>
                </a:solidFill>
                <a:latin typeface="Calibri" pitchFamily="34" charset="0"/>
                <a:ea typeface="Calibri" pitchFamily="34" charset="-122"/>
                <a:cs typeface="Calibri" pitchFamily="34" charset="-120"/>
              </a:rPr>
              <a:t>Balanced risk-return profile</a:t>
            </a:r>
            <a:endParaRPr lang="en-US" sz="1150" dirty="0"/>
          </a:p>
        </p:txBody>
      </p:sp>
      <p:sp>
        <p:nvSpPr>
          <p:cNvPr id="15" name="Shape 12"/>
          <p:cNvSpPr/>
          <p:nvPr/>
        </p:nvSpPr>
        <p:spPr>
          <a:xfrm>
            <a:off x="8321040" y="3977640"/>
            <a:ext cx="3520440" cy="1737360"/>
          </a:xfrm>
          <a:prstGeom prst="roundRect">
            <a:avLst>
              <a:gd name="adj" fmla="val 5263"/>
            </a:avLst>
          </a:prstGeom>
          <a:solidFill>
            <a:srgbClr val="F4F6FB"/>
          </a:solidFill>
          <a:ln/>
        </p:spPr>
      </p:sp>
      <p:sp>
        <p:nvSpPr>
          <p:cNvPr id="16" name="Shape 13"/>
          <p:cNvSpPr/>
          <p:nvPr/>
        </p:nvSpPr>
        <p:spPr>
          <a:xfrm>
            <a:off x="8595360" y="4206240"/>
            <a:ext cx="1463040" cy="384048"/>
          </a:xfrm>
          <a:prstGeom prst="roundRect">
            <a:avLst>
              <a:gd name="adj" fmla="val 50000"/>
            </a:avLst>
          </a:prstGeom>
          <a:solidFill>
            <a:srgbClr val="D9A441"/>
          </a:solidFill>
          <a:ln/>
        </p:spPr>
      </p:sp>
      <p:sp>
        <p:nvSpPr>
          <p:cNvPr id="4" name="Text 14"/>
          <p:cNvSpPr/>
          <p:nvPr/>
        </p:nvSpPr>
        <p:spPr>
          <a:xfrm>
            <a:off x="8595360" y="4206240"/>
            <a:ext cx="146304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VOLATILE</a:t>
            </a:r>
            <a:endParaRPr lang="en-US" sz="1100" dirty="0"/>
          </a:p>
        </p:txBody>
      </p:sp>
      <p:sp>
        <p:nvSpPr>
          <p:cNvPr id="18" name="Text 15"/>
          <p:cNvSpPr/>
          <p:nvPr/>
        </p:nvSpPr>
        <p:spPr>
          <a:xfrm>
            <a:off x="8595360" y="4709160"/>
            <a:ext cx="2971800"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Reliance</a:t>
            </a:r>
            <a:endParaRPr lang="en-US" sz="1500" dirty="0"/>
          </a:p>
        </p:txBody>
      </p:sp>
      <p:sp>
        <p:nvSpPr>
          <p:cNvPr id="19" name="Text 16"/>
          <p:cNvSpPr/>
          <p:nvPr/>
        </p:nvSpPr>
        <p:spPr>
          <a:xfrm>
            <a:off x="8595360" y="5120640"/>
            <a:ext cx="2971800" cy="502920"/>
          </a:xfrm>
          <a:prstGeom prst="rect">
            <a:avLst/>
          </a:prstGeom>
          <a:noFill/>
          <a:ln/>
        </p:spPr>
        <p:txBody>
          <a:bodyPr wrap="square" rtlCol="0" anchor="ctr"/>
          <a:lstStyle/>
          <a:p>
            <a:pPr marL="0" indent="0">
              <a:buNone/>
            </a:pPr>
            <a:r>
              <a:rPr lang="en-US" sz="1150" dirty="0">
                <a:solidFill>
                  <a:srgbClr val="1B1B2F"/>
                </a:solidFill>
                <a:latin typeface="Calibri" pitchFamily="34" charset="0"/>
                <a:ea typeface="Calibri" pitchFamily="34" charset="-122"/>
                <a:cs typeface="Calibri" pitchFamily="34" charset="-120"/>
              </a:rPr>
              <a:t>Moderate return, high risk</a:t>
            </a:r>
            <a:endParaRPr lang="en-US" sz="1150" dirty="0"/>
          </a:p>
        </p:txBody>
      </p:sp>
      <p:sp>
        <p:nvSpPr>
          <p:cNvPr id="20" name="Text 17"/>
          <p:cNvSpPr/>
          <p:nvPr/>
        </p:nvSpPr>
        <p:spPr>
          <a:xfrm>
            <a:off x="457200" y="6473952"/>
            <a:ext cx="7315200" cy="274320"/>
          </a:xfrm>
          <a:prstGeom prst="rect">
            <a:avLst/>
          </a:prstGeom>
          <a:noFill/>
          <a:ln/>
        </p:spPr>
        <p:txBody>
          <a:bodyPr wrap="square"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Risk and Return Analysis in Equities  |  Ventura Securities Ltd</a:t>
            </a:r>
            <a:endParaRPr lang="en-US" sz="900" dirty="0"/>
          </a:p>
        </p:txBody>
      </p:sp>
      <p:sp>
        <p:nvSpPr>
          <p:cNvPr id="21" name="Text 18"/>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137160"/>
            <a:ext cx="5486400" cy="274320"/>
          </a:xfrm>
          <a:prstGeom prst="rect">
            <a:avLst/>
          </a:prstGeom>
          <a:noFill/>
          <a:ln/>
        </p:spPr>
        <p:txBody>
          <a:bodyPr wrap="square"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KEY FINDINGS</a:t>
            </a:r>
            <a:endParaRPr lang="en-US" sz="1200" dirty="0"/>
          </a:p>
        </p:txBody>
      </p:sp>
      <p:sp>
        <p:nvSpPr>
          <p:cNvPr id="3" name="Text 1"/>
          <p:cNvSpPr/>
          <p:nvPr/>
        </p:nvSpPr>
        <p:spPr>
          <a:xfrm>
            <a:off x="548640" y="365760"/>
            <a:ext cx="11091672" cy="731520"/>
          </a:xfrm>
          <a:prstGeom prst="rect">
            <a:avLst/>
          </a:prstGeom>
          <a:noFill/>
          <a:ln/>
        </p:spPr>
        <p:txBody>
          <a:bodyPr wrap="square" rtlCol="0" anchor="ctr"/>
          <a:lstStyle/>
          <a:p>
            <a:pPr marL="0" indent="0">
              <a:buNone/>
            </a:pPr>
            <a:r>
              <a:rPr lang="en-US" sz="3000" b="1" dirty="0">
                <a:solidFill>
                  <a:schemeClr val="bg2">
                    <a:lumMod val="50000"/>
                  </a:schemeClr>
                </a:solidFill>
                <a:latin typeface="Cambria" pitchFamily="34" charset="0"/>
                <a:ea typeface="Cambria" pitchFamily="34" charset="-122"/>
                <a:cs typeface="Cambria" pitchFamily="34" charset="-120"/>
              </a:rPr>
              <a:t>What the Study Reveals</a:t>
            </a:r>
            <a:endParaRPr lang="en-US" sz="3000" dirty="0">
              <a:solidFill>
                <a:schemeClr val="bg2">
                  <a:lumMod val="50000"/>
                </a:schemeClr>
              </a:solidFill>
            </a:endParaRPr>
          </a:p>
        </p:txBody>
      </p:sp>
      <p:sp>
        <p:nvSpPr>
          <p:cNvPr id="4" name="Shape 2"/>
          <p:cNvSpPr/>
          <p:nvPr/>
        </p:nvSpPr>
        <p:spPr>
          <a:xfrm>
            <a:off x="548640" y="1371600"/>
            <a:ext cx="5349240" cy="1280160"/>
          </a:xfrm>
          <a:prstGeom prst="roundRect">
            <a:avLst>
              <a:gd name="adj" fmla="val 5714"/>
            </a:avLst>
          </a:prstGeom>
          <a:solidFill>
            <a:srgbClr val="263876"/>
          </a:solidFill>
          <a:ln/>
        </p:spPr>
      </p:sp>
      <p:sp>
        <p:nvSpPr>
          <p:cNvPr id="5" name="Shape 3"/>
          <p:cNvSpPr/>
          <p:nvPr/>
        </p:nvSpPr>
        <p:spPr>
          <a:xfrm>
            <a:off x="777240" y="1600200"/>
            <a:ext cx="137160" cy="137160"/>
          </a:xfrm>
          <a:prstGeom prst="ellipse">
            <a:avLst/>
          </a:prstGeom>
          <a:solidFill>
            <a:srgbClr val="D9A441"/>
          </a:solidFill>
          <a:ln/>
        </p:spPr>
      </p:sp>
      <p:sp>
        <p:nvSpPr>
          <p:cNvPr id="6" name="Text 4"/>
          <p:cNvSpPr/>
          <p:nvPr/>
        </p:nvSpPr>
        <p:spPr>
          <a:xfrm>
            <a:off x="1051560" y="1508760"/>
            <a:ext cx="4617720" cy="1005840"/>
          </a:xfrm>
          <a:prstGeom prst="rect">
            <a:avLst/>
          </a:prstGeom>
          <a:noFill/>
          <a:ln/>
        </p:spPr>
        <p:txBody>
          <a:bodyPr wrap="square" rtlCol="0" anchor="t"/>
          <a:lstStyle/>
          <a:p>
            <a:pPr marL="0" indent="0">
              <a:buNone/>
            </a:pPr>
            <a:r>
              <a:rPr lang="en-US" sz="1200" dirty="0">
                <a:solidFill>
                  <a:srgbClr val="CADCFC"/>
                </a:solidFill>
                <a:latin typeface="Calibri" pitchFamily="34" charset="0"/>
                <a:ea typeface="Calibri" pitchFamily="34" charset="-122"/>
                <a:cs typeface="Calibri" pitchFamily="34" charset="-120"/>
              </a:rPr>
              <a:t>ICICI Bank recorded the highest average return (12.84%) with comparatively stable performance.</a:t>
            </a:r>
            <a:endParaRPr lang="en-US" sz="1200" dirty="0"/>
          </a:p>
        </p:txBody>
      </p:sp>
      <p:sp>
        <p:nvSpPr>
          <p:cNvPr id="7" name="Shape 5"/>
          <p:cNvSpPr/>
          <p:nvPr/>
        </p:nvSpPr>
        <p:spPr>
          <a:xfrm>
            <a:off x="6263640" y="1371600"/>
            <a:ext cx="5349240" cy="1280160"/>
          </a:xfrm>
          <a:prstGeom prst="roundRect">
            <a:avLst>
              <a:gd name="adj" fmla="val 5714"/>
            </a:avLst>
          </a:prstGeom>
          <a:solidFill>
            <a:srgbClr val="263876"/>
          </a:solidFill>
          <a:ln/>
        </p:spPr>
      </p:sp>
      <p:sp>
        <p:nvSpPr>
          <p:cNvPr id="8" name="Shape 6"/>
          <p:cNvSpPr/>
          <p:nvPr/>
        </p:nvSpPr>
        <p:spPr>
          <a:xfrm>
            <a:off x="6492240" y="1600200"/>
            <a:ext cx="137160" cy="137160"/>
          </a:xfrm>
          <a:prstGeom prst="ellipse">
            <a:avLst/>
          </a:prstGeom>
          <a:solidFill>
            <a:srgbClr val="D9A441"/>
          </a:solidFill>
          <a:ln/>
        </p:spPr>
      </p:sp>
      <p:sp>
        <p:nvSpPr>
          <p:cNvPr id="9" name="Text 7"/>
          <p:cNvSpPr/>
          <p:nvPr/>
        </p:nvSpPr>
        <p:spPr>
          <a:xfrm>
            <a:off x="6766560" y="1508760"/>
            <a:ext cx="4617720" cy="1005840"/>
          </a:xfrm>
          <a:prstGeom prst="rect">
            <a:avLst/>
          </a:prstGeom>
          <a:noFill/>
          <a:ln/>
        </p:spPr>
        <p:txBody>
          <a:bodyPr wrap="square" rtlCol="0" anchor="t"/>
          <a:lstStyle/>
          <a:p>
            <a:pPr marL="0" indent="0">
              <a:buNone/>
            </a:pPr>
            <a:r>
              <a:rPr lang="en-US" sz="1200" dirty="0">
                <a:solidFill>
                  <a:srgbClr val="CADCFC"/>
                </a:solidFill>
                <a:latin typeface="Calibri" pitchFamily="34" charset="0"/>
                <a:ea typeface="Calibri" pitchFamily="34" charset="-122"/>
                <a:cs typeface="Calibri" pitchFamily="34" charset="-120"/>
              </a:rPr>
              <a:t>TCS generated a low average return (1.76%) alongside high volatility (20.07%) — an unfavorable risk-return trade-off.</a:t>
            </a:r>
            <a:endParaRPr lang="en-US" sz="1200" dirty="0"/>
          </a:p>
        </p:txBody>
      </p:sp>
      <p:sp>
        <p:nvSpPr>
          <p:cNvPr id="10" name="Shape 8"/>
          <p:cNvSpPr/>
          <p:nvPr/>
        </p:nvSpPr>
        <p:spPr>
          <a:xfrm>
            <a:off x="548640" y="2880360"/>
            <a:ext cx="5349240" cy="1280160"/>
          </a:xfrm>
          <a:prstGeom prst="roundRect">
            <a:avLst>
              <a:gd name="adj" fmla="val 5714"/>
            </a:avLst>
          </a:prstGeom>
          <a:solidFill>
            <a:srgbClr val="263876"/>
          </a:solidFill>
          <a:ln/>
        </p:spPr>
      </p:sp>
      <p:sp>
        <p:nvSpPr>
          <p:cNvPr id="11" name="Shape 9"/>
          <p:cNvSpPr/>
          <p:nvPr/>
        </p:nvSpPr>
        <p:spPr>
          <a:xfrm>
            <a:off x="777240" y="3108960"/>
            <a:ext cx="137160" cy="137160"/>
          </a:xfrm>
          <a:prstGeom prst="ellipse">
            <a:avLst/>
          </a:prstGeom>
          <a:solidFill>
            <a:srgbClr val="D9A441"/>
          </a:solidFill>
          <a:ln/>
        </p:spPr>
      </p:sp>
      <p:sp>
        <p:nvSpPr>
          <p:cNvPr id="12" name="Text 10"/>
          <p:cNvSpPr/>
          <p:nvPr/>
        </p:nvSpPr>
        <p:spPr>
          <a:xfrm>
            <a:off x="1051560" y="3017520"/>
            <a:ext cx="4617720" cy="1005840"/>
          </a:xfrm>
          <a:prstGeom prst="rect">
            <a:avLst/>
          </a:prstGeom>
          <a:noFill/>
          <a:ln/>
        </p:spPr>
        <p:txBody>
          <a:bodyPr wrap="square" rtlCol="0" anchor="t"/>
          <a:lstStyle/>
          <a:p>
            <a:pPr marL="0" indent="0">
              <a:buNone/>
            </a:pPr>
            <a:r>
              <a:rPr lang="en-US" sz="1200" dirty="0">
                <a:solidFill>
                  <a:srgbClr val="CADCFC"/>
                </a:solidFill>
                <a:latin typeface="Calibri" pitchFamily="34" charset="0"/>
                <a:ea typeface="Calibri" pitchFamily="34" charset="-122"/>
                <a:cs typeface="Calibri" pitchFamily="34" charset="-120"/>
              </a:rPr>
              <a:t>Reliance Industries showed the highest risk (21.92%) with only moderate returns (6.62%).</a:t>
            </a:r>
            <a:endParaRPr lang="en-US" sz="1200" dirty="0"/>
          </a:p>
        </p:txBody>
      </p:sp>
      <p:sp>
        <p:nvSpPr>
          <p:cNvPr id="13" name="Shape 11"/>
          <p:cNvSpPr/>
          <p:nvPr/>
        </p:nvSpPr>
        <p:spPr>
          <a:xfrm>
            <a:off x="6263640" y="2880360"/>
            <a:ext cx="5349240" cy="1280160"/>
          </a:xfrm>
          <a:prstGeom prst="roundRect">
            <a:avLst>
              <a:gd name="adj" fmla="val 5714"/>
            </a:avLst>
          </a:prstGeom>
          <a:solidFill>
            <a:srgbClr val="263876"/>
          </a:solidFill>
          <a:ln/>
        </p:spPr>
      </p:sp>
      <p:sp>
        <p:nvSpPr>
          <p:cNvPr id="14" name="Shape 12"/>
          <p:cNvSpPr/>
          <p:nvPr/>
        </p:nvSpPr>
        <p:spPr>
          <a:xfrm>
            <a:off x="6492240" y="3108960"/>
            <a:ext cx="137160" cy="137160"/>
          </a:xfrm>
          <a:prstGeom prst="ellipse">
            <a:avLst/>
          </a:prstGeom>
          <a:solidFill>
            <a:srgbClr val="D9A441"/>
          </a:solidFill>
          <a:ln/>
        </p:spPr>
      </p:sp>
      <p:sp>
        <p:nvSpPr>
          <p:cNvPr id="15" name="Text 13"/>
          <p:cNvSpPr/>
          <p:nvPr/>
        </p:nvSpPr>
        <p:spPr>
          <a:xfrm>
            <a:off x="6766560" y="3017520"/>
            <a:ext cx="4617720" cy="1005840"/>
          </a:xfrm>
          <a:prstGeom prst="rect">
            <a:avLst/>
          </a:prstGeom>
          <a:noFill/>
          <a:ln/>
        </p:spPr>
        <p:txBody>
          <a:bodyPr wrap="square" rtlCol="0" anchor="t"/>
          <a:lstStyle/>
          <a:p>
            <a:pPr marL="0" indent="0">
              <a:buNone/>
            </a:pPr>
            <a:r>
              <a:rPr lang="en-US" sz="1200" dirty="0">
                <a:solidFill>
                  <a:srgbClr val="CADCFC"/>
                </a:solidFill>
                <a:latin typeface="Calibri" pitchFamily="34" charset="0"/>
                <a:ea typeface="Calibri" pitchFamily="34" charset="-122"/>
                <a:cs typeface="Calibri" pitchFamily="34" charset="-120"/>
              </a:rPr>
              <a:t>Higher risk did not consistently translate into higher return across the sample.</a:t>
            </a:r>
            <a:endParaRPr lang="en-US" sz="1200" dirty="0"/>
          </a:p>
        </p:txBody>
      </p:sp>
      <p:sp>
        <p:nvSpPr>
          <p:cNvPr id="16" name="Shape 14"/>
          <p:cNvSpPr/>
          <p:nvPr/>
        </p:nvSpPr>
        <p:spPr>
          <a:xfrm>
            <a:off x="548640" y="4389120"/>
            <a:ext cx="5349240" cy="1280160"/>
          </a:xfrm>
          <a:prstGeom prst="roundRect">
            <a:avLst>
              <a:gd name="adj" fmla="val 5714"/>
            </a:avLst>
          </a:prstGeom>
          <a:solidFill>
            <a:srgbClr val="263876"/>
          </a:solidFill>
          <a:ln/>
        </p:spPr>
      </p:sp>
      <p:sp>
        <p:nvSpPr>
          <p:cNvPr id="17" name="Shape 15"/>
          <p:cNvSpPr/>
          <p:nvPr/>
        </p:nvSpPr>
        <p:spPr>
          <a:xfrm>
            <a:off x="777240" y="4617720"/>
            <a:ext cx="137160" cy="137160"/>
          </a:xfrm>
          <a:prstGeom prst="ellipse">
            <a:avLst/>
          </a:prstGeom>
          <a:solidFill>
            <a:srgbClr val="D9A441"/>
          </a:solidFill>
          <a:ln/>
        </p:spPr>
      </p:sp>
      <p:sp>
        <p:nvSpPr>
          <p:cNvPr id="18" name="Text 16"/>
          <p:cNvSpPr/>
          <p:nvPr/>
        </p:nvSpPr>
        <p:spPr>
          <a:xfrm>
            <a:off x="1051560" y="4526280"/>
            <a:ext cx="4617720" cy="1005840"/>
          </a:xfrm>
          <a:prstGeom prst="rect">
            <a:avLst/>
          </a:prstGeom>
          <a:noFill/>
          <a:ln/>
        </p:spPr>
        <p:txBody>
          <a:bodyPr wrap="square" rtlCol="0" anchor="t"/>
          <a:lstStyle/>
          <a:p>
            <a:pPr marL="0" indent="0">
              <a:buNone/>
            </a:pPr>
            <a:r>
              <a:rPr lang="en-US" sz="1200" dirty="0">
                <a:solidFill>
                  <a:srgbClr val="CADCFC"/>
                </a:solidFill>
                <a:latin typeface="Calibri" pitchFamily="34" charset="0"/>
                <a:ea typeface="Calibri" pitchFamily="34" charset="-122"/>
                <a:cs typeface="Calibri" pitchFamily="34" charset="-120"/>
              </a:rPr>
              <a:t>All three stocks carry beta above 1, making them more sensitive than the broader market.</a:t>
            </a:r>
            <a:endParaRPr lang="en-US" sz="1200" dirty="0"/>
          </a:p>
        </p:txBody>
      </p:sp>
      <p:sp>
        <p:nvSpPr>
          <p:cNvPr id="19" name="Shape 17"/>
          <p:cNvSpPr/>
          <p:nvPr/>
        </p:nvSpPr>
        <p:spPr>
          <a:xfrm>
            <a:off x="6263640" y="4389120"/>
            <a:ext cx="5349240" cy="1280160"/>
          </a:xfrm>
          <a:prstGeom prst="roundRect">
            <a:avLst>
              <a:gd name="adj" fmla="val 5714"/>
            </a:avLst>
          </a:prstGeom>
          <a:solidFill>
            <a:srgbClr val="263876"/>
          </a:solidFill>
          <a:ln/>
        </p:spPr>
      </p:sp>
      <p:sp>
        <p:nvSpPr>
          <p:cNvPr id="20" name="Shape 18"/>
          <p:cNvSpPr/>
          <p:nvPr/>
        </p:nvSpPr>
        <p:spPr>
          <a:xfrm>
            <a:off x="6492240" y="4617720"/>
            <a:ext cx="137160" cy="137160"/>
          </a:xfrm>
          <a:prstGeom prst="ellipse">
            <a:avLst/>
          </a:prstGeom>
          <a:solidFill>
            <a:srgbClr val="D9A441"/>
          </a:solidFill>
          <a:ln/>
        </p:spPr>
      </p:sp>
      <p:sp>
        <p:nvSpPr>
          <p:cNvPr id="21" name="Text 19"/>
          <p:cNvSpPr/>
          <p:nvPr/>
        </p:nvSpPr>
        <p:spPr>
          <a:xfrm>
            <a:off x="6766560" y="4526280"/>
            <a:ext cx="4617720" cy="1005840"/>
          </a:xfrm>
          <a:prstGeom prst="rect">
            <a:avLst/>
          </a:prstGeom>
          <a:noFill/>
          <a:ln/>
        </p:spPr>
        <p:txBody>
          <a:bodyPr wrap="square" rtlCol="0" anchor="t"/>
          <a:lstStyle/>
          <a:p>
            <a:pPr marL="0" indent="0">
              <a:buNone/>
            </a:pPr>
            <a:r>
              <a:rPr lang="en-US" sz="1200" dirty="0">
                <a:solidFill>
                  <a:srgbClr val="CADCFC"/>
                </a:solidFill>
                <a:latin typeface="Calibri" pitchFamily="34" charset="0"/>
                <a:ea typeface="Calibri" pitchFamily="34" charset="-122"/>
                <a:cs typeface="Calibri" pitchFamily="34" charset="-120"/>
              </a:rPr>
              <a:t>Strong positive correlation among TCS, ICICI and Reliance limits diversification benefit within this set.</a:t>
            </a:r>
            <a:endParaRPr lang="en-US" sz="1200" dirty="0"/>
          </a:p>
        </p:txBody>
      </p:sp>
      <p:sp>
        <p:nvSpPr>
          <p:cNvPr id="22" name="Text 20"/>
          <p:cNvSpPr/>
          <p:nvPr/>
        </p:nvSpPr>
        <p:spPr>
          <a:xfrm>
            <a:off x="457200" y="6473952"/>
            <a:ext cx="7315200" cy="274320"/>
          </a:xfrm>
          <a:prstGeom prst="rect">
            <a:avLst/>
          </a:prstGeom>
          <a:noFill/>
          <a:ln/>
        </p:spPr>
        <p:txBody>
          <a:bodyPr wrap="square" rtlCol="0" anchor="ctr"/>
          <a:lstStyle/>
          <a:p>
            <a:pPr marL="0" indent="0">
              <a:buNone/>
            </a:pPr>
            <a:r>
              <a:rPr lang="en-US" sz="900" i="1" dirty="0">
                <a:solidFill>
                  <a:srgbClr val="CADCFC"/>
                </a:solidFill>
                <a:latin typeface="Calibri" pitchFamily="34" charset="0"/>
                <a:ea typeface="Calibri" pitchFamily="34" charset="-122"/>
                <a:cs typeface="Calibri" pitchFamily="34" charset="-120"/>
              </a:rPr>
              <a:t>Risk and Return Analysis in Equities  |  Ventura Securities Ltd</a:t>
            </a:r>
            <a:endParaRPr lang="en-US" sz="900" dirty="0"/>
          </a:p>
        </p:txBody>
      </p:sp>
      <p:sp>
        <p:nvSpPr>
          <p:cNvPr id="23" name="Text 21"/>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5486400" cy="274320"/>
          </a:xfrm>
          <a:prstGeom prst="rect">
            <a:avLst/>
          </a:prstGeom>
          <a:noFill/>
          <a:ln/>
        </p:spPr>
        <p:txBody>
          <a:bodyPr wrap="square"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CHAPTER 5 · CONCLUSION</a:t>
            </a:r>
            <a:endParaRPr lang="en-US" sz="1200" dirty="0"/>
          </a:p>
        </p:txBody>
      </p:sp>
      <p:sp>
        <p:nvSpPr>
          <p:cNvPr id="3" name="Text 1"/>
          <p:cNvSpPr/>
          <p:nvPr/>
        </p:nvSpPr>
        <p:spPr>
          <a:xfrm>
            <a:off x="548640" y="365760"/>
            <a:ext cx="11091672" cy="7315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Suggestions &amp; Conclusion</a:t>
            </a:r>
            <a:endParaRPr lang="en-US" sz="3000" dirty="0"/>
          </a:p>
        </p:txBody>
      </p:sp>
      <p:sp>
        <p:nvSpPr>
          <p:cNvPr id="4" name="Shape 2"/>
          <p:cNvSpPr/>
          <p:nvPr/>
        </p:nvSpPr>
        <p:spPr>
          <a:xfrm>
            <a:off x="548640" y="1371600"/>
            <a:ext cx="5577840" cy="4754880"/>
          </a:xfrm>
          <a:prstGeom prst="roundRect">
            <a:avLst>
              <a:gd name="adj" fmla="val 1538"/>
            </a:avLst>
          </a:prstGeom>
          <a:solidFill>
            <a:srgbClr val="F4F6FB"/>
          </a:solidFill>
          <a:ln/>
        </p:spPr>
      </p:sp>
      <p:sp>
        <p:nvSpPr>
          <p:cNvPr id="5" name="Text 3"/>
          <p:cNvSpPr/>
          <p:nvPr/>
        </p:nvSpPr>
        <p:spPr>
          <a:xfrm>
            <a:off x="822960" y="1554480"/>
            <a:ext cx="5029200"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Suggestions for Investors</a:t>
            </a:r>
            <a:endParaRPr lang="en-US" sz="1500" dirty="0"/>
          </a:p>
        </p:txBody>
      </p:sp>
      <p:sp>
        <p:nvSpPr>
          <p:cNvPr id="6" name="Shape 4"/>
          <p:cNvSpPr/>
          <p:nvPr/>
        </p:nvSpPr>
        <p:spPr>
          <a:xfrm>
            <a:off x="822960" y="2121408"/>
            <a:ext cx="100584" cy="100584"/>
          </a:xfrm>
          <a:prstGeom prst="ellipse">
            <a:avLst/>
          </a:prstGeom>
          <a:solidFill>
            <a:srgbClr val="D9A441"/>
          </a:solidFill>
          <a:ln/>
        </p:spPr>
      </p:sp>
      <p:sp>
        <p:nvSpPr>
          <p:cNvPr id="7" name="Text 5"/>
          <p:cNvSpPr/>
          <p:nvPr/>
        </p:nvSpPr>
        <p:spPr>
          <a:xfrm>
            <a:off x="1051560" y="1984248"/>
            <a:ext cx="4892040" cy="548640"/>
          </a:xfrm>
          <a:prstGeom prst="rect">
            <a:avLst/>
          </a:prstGeom>
          <a:noFill/>
          <a:ln/>
        </p:spPr>
        <p:txBody>
          <a:bodyPr wrap="square" rtlCol="0" anchor="ctr"/>
          <a:lstStyle/>
          <a:p>
            <a:pPr marL="0" indent="0">
              <a:buNone/>
            </a:pPr>
            <a:r>
              <a:rPr lang="en-US" sz="1200" dirty="0">
                <a:solidFill>
                  <a:srgbClr val="1B1B2F"/>
                </a:solidFill>
                <a:latin typeface="Calibri" pitchFamily="34" charset="0"/>
                <a:ea typeface="Calibri" pitchFamily="34" charset="-122"/>
                <a:cs typeface="Calibri" pitchFamily="34" charset="-120"/>
              </a:rPr>
              <a:t>Weigh both risk and return before investing — not returns alone.</a:t>
            </a:r>
            <a:endParaRPr lang="en-US" sz="1200" dirty="0"/>
          </a:p>
        </p:txBody>
      </p:sp>
      <p:sp>
        <p:nvSpPr>
          <p:cNvPr id="8" name="Shape 6"/>
          <p:cNvSpPr/>
          <p:nvPr/>
        </p:nvSpPr>
        <p:spPr>
          <a:xfrm>
            <a:off x="822960" y="2779776"/>
            <a:ext cx="100584" cy="100584"/>
          </a:xfrm>
          <a:prstGeom prst="ellipse">
            <a:avLst/>
          </a:prstGeom>
          <a:solidFill>
            <a:srgbClr val="D9A441"/>
          </a:solidFill>
          <a:ln/>
        </p:spPr>
      </p:sp>
      <p:sp>
        <p:nvSpPr>
          <p:cNvPr id="9" name="Text 7"/>
          <p:cNvSpPr/>
          <p:nvPr/>
        </p:nvSpPr>
        <p:spPr>
          <a:xfrm>
            <a:off x="1051560" y="2642616"/>
            <a:ext cx="4892040" cy="548640"/>
          </a:xfrm>
          <a:prstGeom prst="rect">
            <a:avLst/>
          </a:prstGeom>
          <a:noFill/>
          <a:ln/>
        </p:spPr>
        <p:txBody>
          <a:bodyPr wrap="square" rtlCol="0" anchor="ctr"/>
          <a:lstStyle/>
          <a:p>
            <a:pPr marL="0" indent="0">
              <a:buNone/>
            </a:pPr>
            <a:r>
              <a:rPr lang="en-US" sz="1200" dirty="0">
                <a:solidFill>
                  <a:srgbClr val="1B1B2F"/>
                </a:solidFill>
                <a:latin typeface="Calibri" pitchFamily="34" charset="0"/>
                <a:ea typeface="Calibri" pitchFamily="34" charset="-122"/>
                <a:cs typeface="Calibri" pitchFamily="34" charset="-120"/>
              </a:rPr>
              <a:t>ICICI Bank offers the most balanced risk-return profile for stable growth.</a:t>
            </a:r>
            <a:endParaRPr lang="en-US" sz="1200" dirty="0"/>
          </a:p>
        </p:txBody>
      </p:sp>
      <p:sp>
        <p:nvSpPr>
          <p:cNvPr id="10" name="Shape 8"/>
          <p:cNvSpPr/>
          <p:nvPr/>
        </p:nvSpPr>
        <p:spPr>
          <a:xfrm>
            <a:off x="822960" y="3438144"/>
            <a:ext cx="100584" cy="100584"/>
          </a:xfrm>
          <a:prstGeom prst="ellipse">
            <a:avLst/>
          </a:prstGeom>
          <a:solidFill>
            <a:srgbClr val="D9A441"/>
          </a:solidFill>
          <a:ln/>
        </p:spPr>
      </p:sp>
      <p:sp>
        <p:nvSpPr>
          <p:cNvPr id="11" name="Text 9"/>
          <p:cNvSpPr/>
          <p:nvPr/>
        </p:nvSpPr>
        <p:spPr>
          <a:xfrm>
            <a:off x="1051560" y="3300984"/>
            <a:ext cx="4892040" cy="548640"/>
          </a:xfrm>
          <a:prstGeom prst="rect">
            <a:avLst/>
          </a:prstGeom>
          <a:noFill/>
          <a:ln/>
        </p:spPr>
        <p:txBody>
          <a:bodyPr wrap="square" rtlCol="0" anchor="ctr"/>
          <a:lstStyle/>
          <a:p>
            <a:pPr marL="0" indent="0">
              <a:buNone/>
            </a:pPr>
            <a:r>
              <a:rPr lang="en-US" sz="1200" dirty="0">
                <a:solidFill>
                  <a:srgbClr val="1B1B2F"/>
                </a:solidFill>
                <a:latin typeface="Calibri" pitchFamily="34" charset="0"/>
                <a:ea typeface="Calibri" pitchFamily="34" charset="-122"/>
                <a:cs typeface="Calibri" pitchFamily="34" charset="-120"/>
              </a:rPr>
              <a:t>Approach TCS and Reliance with caution given higher volatility.</a:t>
            </a:r>
            <a:endParaRPr lang="en-US" sz="1200" dirty="0"/>
          </a:p>
        </p:txBody>
      </p:sp>
      <p:sp>
        <p:nvSpPr>
          <p:cNvPr id="12" name="Shape 10"/>
          <p:cNvSpPr/>
          <p:nvPr/>
        </p:nvSpPr>
        <p:spPr>
          <a:xfrm>
            <a:off x="822960" y="4096512"/>
            <a:ext cx="100584" cy="100584"/>
          </a:xfrm>
          <a:prstGeom prst="ellipse">
            <a:avLst/>
          </a:prstGeom>
          <a:solidFill>
            <a:srgbClr val="D9A441"/>
          </a:solidFill>
          <a:ln/>
        </p:spPr>
      </p:sp>
      <p:sp>
        <p:nvSpPr>
          <p:cNvPr id="13" name="Text 11"/>
          <p:cNvSpPr/>
          <p:nvPr/>
        </p:nvSpPr>
        <p:spPr>
          <a:xfrm>
            <a:off x="1051560" y="3959352"/>
            <a:ext cx="4892040" cy="548640"/>
          </a:xfrm>
          <a:prstGeom prst="rect">
            <a:avLst/>
          </a:prstGeom>
          <a:noFill/>
          <a:ln/>
        </p:spPr>
        <p:txBody>
          <a:bodyPr wrap="square" rtlCol="0" anchor="ctr"/>
          <a:lstStyle/>
          <a:p>
            <a:pPr marL="0" indent="0">
              <a:buNone/>
            </a:pPr>
            <a:r>
              <a:rPr lang="en-US" sz="1200" dirty="0">
                <a:solidFill>
                  <a:srgbClr val="1B1B2F"/>
                </a:solidFill>
                <a:latin typeface="Calibri" pitchFamily="34" charset="0"/>
                <a:ea typeface="Calibri" pitchFamily="34" charset="-122"/>
                <a:cs typeface="Calibri" pitchFamily="34" charset="-120"/>
              </a:rPr>
              <a:t>Diversify across sectors to reduce overall portfolio risk.</a:t>
            </a:r>
            <a:endParaRPr lang="en-US" sz="1200" dirty="0"/>
          </a:p>
        </p:txBody>
      </p:sp>
      <p:sp>
        <p:nvSpPr>
          <p:cNvPr id="14" name="Shape 12"/>
          <p:cNvSpPr/>
          <p:nvPr/>
        </p:nvSpPr>
        <p:spPr>
          <a:xfrm>
            <a:off x="822960" y="4754880"/>
            <a:ext cx="100584" cy="100584"/>
          </a:xfrm>
          <a:prstGeom prst="ellipse">
            <a:avLst/>
          </a:prstGeom>
          <a:solidFill>
            <a:srgbClr val="D9A441"/>
          </a:solidFill>
          <a:ln/>
        </p:spPr>
      </p:sp>
      <p:sp>
        <p:nvSpPr>
          <p:cNvPr id="15" name="Text 13"/>
          <p:cNvSpPr/>
          <p:nvPr/>
        </p:nvSpPr>
        <p:spPr>
          <a:xfrm>
            <a:off x="1051560" y="4617720"/>
            <a:ext cx="4892040" cy="548640"/>
          </a:xfrm>
          <a:prstGeom prst="rect">
            <a:avLst/>
          </a:prstGeom>
          <a:noFill/>
          <a:ln/>
        </p:spPr>
        <p:txBody>
          <a:bodyPr wrap="square" rtlCol="0" anchor="ctr"/>
          <a:lstStyle/>
          <a:p>
            <a:pPr marL="0" indent="0">
              <a:buNone/>
            </a:pPr>
            <a:r>
              <a:rPr lang="en-US" sz="1200" dirty="0">
                <a:solidFill>
                  <a:srgbClr val="1B1B2F"/>
                </a:solidFill>
                <a:latin typeface="Calibri" pitchFamily="34" charset="0"/>
                <a:ea typeface="Calibri" pitchFamily="34" charset="-122"/>
                <a:cs typeface="Calibri" pitchFamily="34" charset="-120"/>
              </a:rPr>
              <a:t>Use EPS, ROE and Sharpe Ratio alongside price-based metrics.</a:t>
            </a:r>
            <a:endParaRPr lang="en-US" sz="1200" dirty="0"/>
          </a:p>
        </p:txBody>
      </p:sp>
      <p:sp>
        <p:nvSpPr>
          <p:cNvPr id="16" name="Shape 14"/>
          <p:cNvSpPr/>
          <p:nvPr/>
        </p:nvSpPr>
        <p:spPr>
          <a:xfrm>
            <a:off x="6355080" y="1371600"/>
            <a:ext cx="5257800" cy="4754880"/>
          </a:xfrm>
          <a:prstGeom prst="roundRect">
            <a:avLst>
              <a:gd name="adj" fmla="val 1538"/>
            </a:avLst>
          </a:prstGeom>
          <a:solidFill>
            <a:srgbClr val="1E2761"/>
          </a:solidFill>
          <a:ln/>
        </p:spPr>
      </p:sp>
      <p:sp>
        <p:nvSpPr>
          <p:cNvPr id="17" name="Text 15"/>
          <p:cNvSpPr/>
          <p:nvPr/>
        </p:nvSpPr>
        <p:spPr>
          <a:xfrm>
            <a:off x="6629400" y="1554480"/>
            <a:ext cx="4663440" cy="365760"/>
          </a:xfrm>
          <a:prstGeom prst="rect">
            <a:avLst/>
          </a:prstGeom>
          <a:noFill/>
          <a:ln/>
        </p:spPr>
        <p:txBody>
          <a:bodyPr wrap="square" rtlCol="0" anchor="ctr"/>
          <a:lstStyle/>
          <a:p>
            <a:pPr marL="0" indent="0">
              <a:buNone/>
            </a:pPr>
            <a:r>
              <a:rPr lang="en-US" sz="1500" b="1" dirty="0">
                <a:solidFill>
                  <a:srgbClr val="D9A441"/>
                </a:solidFill>
                <a:latin typeface="Cambria" pitchFamily="34" charset="0"/>
                <a:ea typeface="Cambria" pitchFamily="34" charset="-122"/>
                <a:cs typeface="Cambria" pitchFamily="34" charset="-120"/>
              </a:rPr>
              <a:t>Conclusion</a:t>
            </a:r>
            <a:endParaRPr lang="en-US" sz="1500" dirty="0"/>
          </a:p>
        </p:txBody>
      </p:sp>
      <p:sp>
        <p:nvSpPr>
          <p:cNvPr id="18" name="Text 16"/>
          <p:cNvSpPr/>
          <p:nvPr/>
        </p:nvSpPr>
        <p:spPr>
          <a:xfrm>
            <a:off x="6629400" y="2011680"/>
            <a:ext cx="4663440" cy="3931920"/>
          </a:xfrm>
          <a:prstGeom prst="rect">
            <a:avLst/>
          </a:prstGeom>
          <a:noFill/>
          <a:ln/>
        </p:spPr>
        <p:txBody>
          <a:bodyPr wrap="square" rtlCol="0" anchor="t"/>
          <a:lstStyle/>
          <a:p>
            <a:pPr marL="0" indent="0">
              <a:lnSpc>
                <a:spcPct val="125000"/>
              </a:lnSpc>
              <a:buNone/>
            </a:pPr>
            <a:r>
              <a:rPr lang="en-US" sz="1250" dirty="0">
                <a:solidFill>
                  <a:srgbClr val="CADCFC"/>
                </a:solidFill>
                <a:latin typeface="Calibri" pitchFamily="34" charset="0"/>
                <a:ea typeface="Calibri" pitchFamily="34" charset="-122"/>
                <a:cs typeface="Calibri" pitchFamily="34" charset="-120"/>
              </a:rPr>
              <a:t>ICICI Bank generated comparatively higher returns with moderate risk, making it the most stable performer among the selected equities. Reliance Industries and TCS showed greater fluctuations, confirming that higher risk does not guarantee higher return.</a:t>
            </a:r>
            <a:endParaRPr lang="en-US" sz="1250" dirty="0"/>
          </a:p>
          <a:p>
            <a:pPr marL="0" indent="0">
              <a:lnSpc>
                <a:spcPct val="125000"/>
              </a:lnSpc>
              <a:buNone/>
            </a:pPr>
            <a:endParaRPr lang="en-US" sz="1250" dirty="0"/>
          </a:p>
          <a:p>
            <a:pPr marL="0" indent="0">
              <a:lnSpc>
                <a:spcPct val="125000"/>
              </a:lnSpc>
              <a:buNone/>
            </a:pPr>
            <a:r>
              <a:rPr lang="en-US" sz="1250" dirty="0">
                <a:solidFill>
                  <a:srgbClr val="CADCFC"/>
                </a:solidFill>
                <a:latin typeface="Calibri" pitchFamily="34" charset="0"/>
                <a:ea typeface="Calibri" pitchFamily="34" charset="-122"/>
                <a:cs typeface="Calibri" pitchFamily="34" charset="-120"/>
              </a:rPr>
              <a:t>Both risk and return must be considered together while selecting investments. Diversification, careful market analysis, and informed decision-making remain key to long-term financial growth — the core role Ventura Securities Ltd plays for its investors.</a:t>
            </a:r>
            <a:endParaRPr lang="en-US" sz="1250" dirty="0"/>
          </a:p>
        </p:txBody>
      </p:sp>
      <p:sp>
        <p:nvSpPr>
          <p:cNvPr id="19" name="Text 17"/>
          <p:cNvSpPr/>
          <p:nvPr/>
        </p:nvSpPr>
        <p:spPr>
          <a:xfrm>
            <a:off x="457200" y="6473952"/>
            <a:ext cx="7315200" cy="274320"/>
          </a:xfrm>
          <a:prstGeom prst="rect">
            <a:avLst/>
          </a:prstGeom>
          <a:noFill/>
          <a:ln/>
        </p:spPr>
        <p:txBody>
          <a:bodyPr wrap="square"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Risk and Return Analysis in Equities  |  Ventura Securities Ltd</a:t>
            </a:r>
            <a:endParaRPr lang="en-US" sz="900" dirty="0"/>
          </a:p>
        </p:txBody>
      </p:sp>
      <p:sp>
        <p:nvSpPr>
          <p:cNvPr id="20" name="Text 18"/>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Banded">
      <a:dk1>
        <a:srgbClr val="2C2C2C"/>
      </a:dk1>
      <a:lt1>
        <a:srgbClr val="FFFFFF"/>
      </a:lt1>
      <a:dk2>
        <a:srgbClr val="099BDD"/>
      </a:dk2>
      <a:lt2>
        <a:srgbClr val="F2F2F2"/>
      </a:lt2>
      <a:accent1>
        <a:srgbClr val="FFC000"/>
      </a:accent1>
      <a:accent2>
        <a:srgbClr val="A5D028"/>
      </a:accent2>
      <a:accent3>
        <a:srgbClr val="08CC78"/>
      </a:accent3>
      <a:accent4>
        <a:srgbClr val="F24099"/>
      </a:accent4>
      <a:accent5>
        <a:srgbClr val="828288"/>
      </a:accent5>
      <a:accent6>
        <a:srgbClr val="F56617"/>
      </a:accent6>
      <a:hlink>
        <a:srgbClr val="005DBA"/>
      </a:hlink>
      <a:folHlink>
        <a:srgbClr val="6C606A"/>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TM03090430[[fn=Banded]]</Template>
  <TotalTime>32</TotalTime>
  <Words>1763</Words>
  <Application>Microsoft Office PowerPoint</Application>
  <PresentationFormat>Widescreen</PresentationFormat>
  <Paragraphs>321</Paragraphs>
  <Slides>18</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Cambria</vt:lpstr>
      <vt:lpstr>Corbel</vt:lpstr>
      <vt:lpstr>Times New Roman</vt:lpstr>
      <vt:lpstr>Wingdings</vt:lpstr>
      <vt:lpstr>Banded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Manasa Reddy</cp:lastModifiedBy>
  <cp:revision>3</cp:revision>
  <dcterms:created xsi:type="dcterms:W3CDTF">2026-07-15T04:56:52Z</dcterms:created>
  <dcterms:modified xsi:type="dcterms:W3CDTF">2026-07-15T06:10:39Z</dcterms:modified>
</cp:coreProperties>
</file>